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3"/>
    <p:sldId id="278" r:id="rId4"/>
    <p:sldId id="290" r:id="rId5"/>
    <p:sldId id="258" r:id="rId6"/>
    <p:sldId id="269" r:id="rId8"/>
    <p:sldId id="270" r:id="rId9"/>
    <p:sldId id="271" r:id="rId10"/>
    <p:sldId id="281" r:id="rId11"/>
    <p:sldId id="272" r:id="rId12"/>
    <p:sldId id="282" r:id="rId13"/>
    <p:sldId id="274" r:id="rId14"/>
    <p:sldId id="286" r:id="rId15"/>
    <p:sldId id="283" r:id="rId16"/>
    <p:sldId id="287" r:id="rId17"/>
    <p:sldId id="284" r:id="rId18"/>
    <p:sldId id="277" r:id="rId19"/>
    <p:sldId id="288" r:id="rId20"/>
    <p:sldId id="289" r:id="rId21"/>
    <p:sldId id="268" r:id="rId2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 panose="020F0502020204030204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69DF855-2044-4378-D382-97019082214F}" name="Eda nur Saruhan" initials="" userId="S::eda.nur.saruhan@undp.org::c5d9941d-5539-4cc6-837d-40b768a4e45a" providerId="AD"/>
  <p188:author id="{5773C6ED-D5C0-6998-8565-4039F0794B89}" name="carlosnieto_r@hotmail.com" initials="ca" userId="S::urn:spo:guest#carlosnieto_r@hotmail.com::" providerId="AD"/>
  <p188:author id="{AD2977F2-1110-00CA-B921-CFBBF1E22859}" name="Ipek Beril Benli" initials="IB" userId="S::ipek.beril.benli@undp.org::8f9c5f4b-b22c-49ff-bdd5-d07e2760743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2A49"/>
    <a:srgbClr val="4618DE"/>
    <a:srgbClr val="6E1E90"/>
    <a:srgbClr val="F04A23"/>
    <a:srgbClr val="EE482C"/>
    <a:srgbClr val="4617DE"/>
    <a:srgbClr val="FE2E46"/>
    <a:srgbClr val="9D67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customXml" Target="../customXml/item3.xml"/><Relationship Id="rId28" Type="http://schemas.openxmlformats.org/officeDocument/2006/relationships/customXml" Target="../customXml/item2.xml"/><Relationship Id="rId27" Type="http://schemas.openxmlformats.org/officeDocument/2006/relationships/customXml" Target="../customXml/item1.xml"/><Relationship Id="rId26" Type="http://schemas.microsoft.com/office/2018/10/relationships/authors" Target="authors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22541.000 4514.000 8642 0 0,'0.000'0.000'0'0'0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"/>
    </inkml:context>
    <inkml:brush xml:id="br0">
      <inkml:brushProperty name="width" value="0.1" units="cm"/>
      <inkml:brushProperty name="height" value="0.1" units="cm"/>
      <inkml:brushProperty name="color" value="#000000"/>
    </inkml:brush>
  </inkml:definitions>
  <inkml:trace contextRef="#ctx0" brushRef="#br0">8758.000 4343.000 1183 0 0,'1.000'-6.000'2657'0'0,"0.000"-1.000"-2657"0"0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66" name="Shape 46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 panose="020F0502020204030204"/>
      </a:defRPr>
    </a:lvl1pPr>
    <a:lvl2pPr indent="228600" latinLnBrk="0">
      <a:defRPr sz="1200">
        <a:latin typeface="+mj-lt"/>
        <a:ea typeface="+mj-ea"/>
        <a:cs typeface="+mj-cs"/>
        <a:sym typeface="Calibri" panose="020F0502020204030204"/>
      </a:defRPr>
    </a:lvl2pPr>
    <a:lvl3pPr indent="457200" latinLnBrk="0">
      <a:defRPr sz="1200">
        <a:latin typeface="+mj-lt"/>
        <a:ea typeface="+mj-ea"/>
        <a:cs typeface="+mj-cs"/>
        <a:sym typeface="Calibri" panose="020F0502020204030204"/>
      </a:defRPr>
    </a:lvl3pPr>
    <a:lvl4pPr indent="685800" latinLnBrk="0">
      <a:defRPr sz="1200">
        <a:latin typeface="+mj-lt"/>
        <a:ea typeface="+mj-ea"/>
        <a:cs typeface="+mj-cs"/>
        <a:sym typeface="Calibri" panose="020F0502020204030204"/>
      </a:defRPr>
    </a:lvl4pPr>
    <a:lvl5pPr indent="914400" latinLnBrk="0">
      <a:defRPr sz="1200">
        <a:latin typeface="+mj-lt"/>
        <a:ea typeface="+mj-ea"/>
        <a:cs typeface="+mj-cs"/>
        <a:sym typeface="Calibri" panose="020F0502020204030204"/>
      </a:defRPr>
    </a:lvl5pPr>
    <a:lvl6pPr indent="1143000" latinLnBrk="0">
      <a:defRPr sz="1200">
        <a:latin typeface="+mj-lt"/>
        <a:ea typeface="+mj-ea"/>
        <a:cs typeface="+mj-cs"/>
        <a:sym typeface="Calibri" panose="020F0502020204030204"/>
      </a:defRPr>
    </a:lvl6pPr>
    <a:lvl7pPr indent="1371600" latinLnBrk="0">
      <a:defRPr sz="1200">
        <a:latin typeface="+mj-lt"/>
        <a:ea typeface="+mj-ea"/>
        <a:cs typeface="+mj-cs"/>
        <a:sym typeface="Calibri" panose="020F0502020204030204"/>
      </a:defRPr>
    </a:lvl7pPr>
    <a:lvl8pPr indent="1600200" latinLnBrk="0">
      <a:defRPr sz="1200">
        <a:latin typeface="+mj-lt"/>
        <a:ea typeface="+mj-ea"/>
        <a:cs typeface="+mj-cs"/>
        <a:sym typeface="Calibri" panose="020F0502020204030204"/>
      </a:defRPr>
    </a:lvl8pPr>
    <a:lvl9pPr indent="1828800" latinLnBrk="0">
      <a:defRPr sz="1200">
        <a:latin typeface="+mj-lt"/>
        <a:ea typeface="+mj-ea"/>
        <a:cs typeface="+mj-cs"/>
        <a:sym typeface="Calibri" panose="020F050202020403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4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5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6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6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185" indent="-260985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9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8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9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80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8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2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/>
        </p:txBody>
      </p:sp>
      <p:sp>
        <p:nvSpPr>
          <p:cNvPr id="8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itle Slide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9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0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0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02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0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itle and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5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16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ection Header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Two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8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9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40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153987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4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39653" y="2087361"/>
            <a:ext cx="4919546" cy="4089601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itle Only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6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6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6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6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Blank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77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78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79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88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89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90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9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19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185" indent="-260985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3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1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0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0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0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206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/>
        </p:txBody>
      </p:sp>
      <p:sp>
        <p:nvSpPr>
          <p:cNvPr id="20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Slide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23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24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25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26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22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36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3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38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39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4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ection Header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4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5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5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52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25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wo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6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6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6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6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153987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6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39653" y="2087361"/>
            <a:ext cx="4919546" cy="4089601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Comparis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7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7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7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039652" y="1987368"/>
            <a:ext cx="4957923" cy="597100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987367"/>
            <a:ext cx="4980148" cy="601050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</a:p>
        </p:txBody>
      </p:sp>
      <p:sp>
        <p:nvSpPr>
          <p:cNvPr id="28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Only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8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9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9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92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Blank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01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02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03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1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1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1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1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31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185" indent="-260985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7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26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2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28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29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330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/>
        </p:txBody>
      </p:sp>
      <p:sp>
        <p:nvSpPr>
          <p:cNvPr id="33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47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48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49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5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5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9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60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61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62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63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6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73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74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75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76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7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153987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8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039653" y="2087361"/>
            <a:ext cx="4919546" cy="4089601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9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9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39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9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039652" y="1987368"/>
            <a:ext cx="4957923" cy="597100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987367"/>
            <a:ext cx="4980148" cy="601050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</a:p>
        </p:txBody>
      </p:sp>
      <p:sp>
        <p:nvSpPr>
          <p:cNvPr id="40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0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1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1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12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21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22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23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3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3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3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3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4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185" indent="-260985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37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43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5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46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4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48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49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450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/>
        </p:txBody>
      </p:sp>
      <p:sp>
        <p:nvSpPr>
          <p:cNvPr id="45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9653" y="1153987"/>
            <a:ext cx="10112695" cy="9212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653" y="2087362"/>
            <a:ext cx="4919546" cy="408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2802" y="2087362"/>
            <a:ext cx="4919546" cy="4089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9" Type="http://schemas.openxmlformats.org/officeDocument/2006/relationships/theme" Target="../theme/theme1.xml"/><Relationship Id="rId38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Level One…"/>
          <p:cNvSpPr txBox="1">
            <a:spLocks noGrp="1"/>
          </p:cNvSpPr>
          <p:nvPr>
            <p:ph type="body" idx="1"/>
          </p:nvPr>
        </p:nvSpPr>
        <p:spPr>
          <a:xfrm>
            <a:off x="1049144" y="2007218"/>
            <a:ext cx="10093712" cy="4169745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039653" y="1064778"/>
            <a:ext cx="10112696" cy="92125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84232" y="6414758"/>
            <a:ext cx="258625" cy="24830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FFC837"/>
          </a:solidFill>
          <a:uFillTx/>
          <a:latin typeface="Calibri Light" panose="020F0302020204030204"/>
          <a:ea typeface="Calibri Light" panose="020F0302020204030204"/>
          <a:cs typeface="Calibri Light" panose="020F0302020204030204"/>
          <a:sym typeface="Calibri Light" panose="020F0302020204030204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 panose="020F0502020204030204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2.png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2.xml"/><Relationship Id="rId7" Type="http://schemas.openxmlformats.org/officeDocument/2006/relationships/image" Target="../media/image14.png"/><Relationship Id="rId6" Type="http://schemas.openxmlformats.org/officeDocument/2006/relationships/customXml" Target="../ink/ink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1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4.xml"/><Relationship Id="rId7" Type="http://schemas.openxmlformats.org/officeDocument/2006/relationships/image" Target="../media/image14.png"/><Relationship Id="rId6" Type="http://schemas.openxmlformats.org/officeDocument/2006/relationships/customXml" Target="../ink/ink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6.xml"/><Relationship Id="rId7" Type="http://schemas.openxmlformats.org/officeDocument/2006/relationships/image" Target="../media/image14.png"/><Relationship Id="rId6" Type="http://schemas.openxmlformats.org/officeDocument/2006/relationships/customXml" Target="../ink/ink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3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8.xml"/><Relationship Id="rId7" Type="http://schemas.openxmlformats.org/officeDocument/2006/relationships/image" Target="../media/image14.png"/><Relationship Id="rId6" Type="http://schemas.openxmlformats.org/officeDocument/2006/relationships/customXml" Target="../ink/ink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4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10.xml"/><Relationship Id="rId7" Type="http://schemas.openxmlformats.org/officeDocument/2006/relationships/image" Target="../media/image14.png"/><Relationship Id="rId6" Type="http://schemas.openxmlformats.org/officeDocument/2006/relationships/customXml" Target="../ink/ink9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5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12.xml"/><Relationship Id="rId7" Type="http://schemas.openxmlformats.org/officeDocument/2006/relationships/image" Target="../media/image14.png"/><Relationship Id="rId6" Type="http://schemas.openxmlformats.org/officeDocument/2006/relationships/customXml" Target="../ink/ink1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6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14.xml"/><Relationship Id="rId7" Type="http://schemas.openxmlformats.org/officeDocument/2006/relationships/image" Target="../media/image14.png"/><Relationship Id="rId6" Type="http://schemas.openxmlformats.org/officeDocument/2006/relationships/customXml" Target="../ink/ink1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7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16.xml"/><Relationship Id="rId7" Type="http://schemas.openxmlformats.org/officeDocument/2006/relationships/image" Target="../media/image14.png"/><Relationship Id="rId6" Type="http://schemas.openxmlformats.org/officeDocument/2006/relationships/customXml" Target="../ink/ink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8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18.xml"/><Relationship Id="rId7" Type="http://schemas.openxmlformats.org/officeDocument/2006/relationships/image" Target="../media/image14.png"/><Relationship Id="rId6" Type="http://schemas.openxmlformats.org/officeDocument/2006/relationships/customXml" Target="../ink/ink1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9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20.xml"/><Relationship Id="rId7" Type="http://schemas.openxmlformats.org/officeDocument/2006/relationships/image" Target="../media/image14.png"/><Relationship Id="rId6" Type="http://schemas.openxmlformats.org/officeDocument/2006/relationships/customXml" Target="../ink/ink19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10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customXml" Target="../ink/ink22.xml"/><Relationship Id="rId7" Type="http://schemas.openxmlformats.org/officeDocument/2006/relationships/image" Target="../media/image14.png"/><Relationship Id="rId6" Type="http://schemas.openxmlformats.org/officeDocument/2006/relationships/customXml" Target="../ink/ink2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11.xml"/><Relationship Id="rId10" Type="http://schemas.openxmlformats.org/officeDocument/2006/relationships/slideLayout" Target="../slideLayouts/slideLayout31.xml"/><Relationship Id="rId1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erson sitting at a desk using a computer&#10;&#10;Description automatically generated"/>
          <p:cNvPicPr>
            <a:picLocks noChangeAspect="1"/>
          </p:cNvPicPr>
          <p:nvPr/>
        </p:nvPicPr>
        <p:blipFill rotWithShape="1">
          <a:blip r:embed="rId1"/>
          <a:srcRect l="28" t="125" r="5881" b="35700"/>
          <a:stretch>
            <a:fillRect/>
          </a:stretch>
        </p:blipFill>
        <p:spPr>
          <a:xfrm>
            <a:off x="-2985" y="1339747"/>
            <a:ext cx="12225969" cy="5533684"/>
          </a:xfrm>
          <a:prstGeom prst="rect">
            <a:avLst/>
          </a:prstGeom>
        </p:spPr>
      </p:pic>
      <p:sp>
        <p:nvSpPr>
          <p:cNvPr id="468" name="Rectangle"/>
          <p:cNvSpPr/>
          <p:nvPr/>
        </p:nvSpPr>
        <p:spPr>
          <a:xfrm>
            <a:off x="-11767" y="1339747"/>
            <a:ext cx="12203767" cy="5535101"/>
          </a:xfrm>
          <a:prstGeom prst="rect">
            <a:avLst/>
          </a:prstGeom>
          <a:solidFill>
            <a:srgbClr val="4617DE"/>
          </a:solidFill>
          <a:ln w="12700">
            <a:solidFill>
              <a:srgbClr val="4617DE"/>
            </a:solidFill>
            <a:miter lim="400000"/>
          </a:ln>
        </p:spPr>
        <p:txBody>
          <a:bodyPr lIns="45719" rIns="45719" anchor="ctr"/>
          <a:lstStyle/>
          <a:p/>
        </p:txBody>
      </p:sp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5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6"/>
          <a:srcRect l="1000" r="13538" b="33964"/>
          <a:stretch>
            <a:fillRect/>
          </a:stretch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5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497" y="2051146"/>
            <a:ext cx="4240770" cy="411718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" name="Rectangle"/>
          <p:cNvSpPr/>
          <p:nvPr/>
        </p:nvSpPr>
        <p:spPr>
          <a:xfrm rot="21420000">
            <a:off x="6615715" y="4564347"/>
            <a:ext cx="2705697" cy="612972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76" name="A new generation…"/>
          <p:cNvSpPr txBox="1"/>
          <p:nvPr/>
        </p:nvSpPr>
        <p:spPr>
          <a:xfrm>
            <a:off x="5586902" y="3372195"/>
            <a:ext cx="4763321" cy="1800493"/>
          </a:xfrm>
          <a:prstGeom prst="rect">
            <a:avLst/>
          </a:prstGeom>
          <a:ln w="12700">
            <a:miter lim="400000"/>
          </a:ln>
        </p:spPr>
        <p:txBody>
          <a:bodyPr wrap="square" lIns="45719" tIns="45720" rIns="45719" bIns="45720" anchor="t">
            <a:sp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b="1" dirty="0">
                <a:latin typeface="Microsoft YaHei" panose="020B0503020204020204" charset="-122"/>
              </a:rPr>
              <a:t>Uma nova </a:t>
            </a:r>
            <a:r>
              <a:rPr lang="en-US" b="1" dirty="0" err="1">
                <a:latin typeface="Microsoft YaHei" panose="020B0503020204020204" charset="-122"/>
              </a:rPr>
              <a:t>geração</a:t>
            </a:r>
            <a:r>
              <a:rPr lang="en-US" b="1" dirty="0">
                <a:latin typeface="Microsoft YaHei" panose="020B0503020204020204" charset="-122"/>
              </a:rPr>
              <a:t> </a:t>
            </a:r>
            <a:endParaRPr lang="en-US" b="1" dirty="0">
              <a:latin typeface="Microsoft YaHei" panose="020B0503020204020204" charset="-122"/>
            </a:endParaRPr>
          </a:p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b="1" dirty="0">
                <a:latin typeface="Microsoft YaHei" panose="020B0503020204020204" charset="-122"/>
              </a:rPr>
              <a:t>de </a:t>
            </a:r>
            <a:r>
              <a:rPr lang="en-US" b="1" dirty="0" err="1">
                <a:latin typeface="Microsoft YaHei" panose="020B0503020204020204" charset="-122"/>
              </a:rPr>
              <a:t>especialistas </a:t>
            </a:r>
            <a:r>
              <a:rPr lang="en-US" b="1" dirty="0">
                <a:latin typeface="Microsoft YaHei" panose="020B0503020204020204" charset="-122"/>
              </a:rPr>
              <a:t>em </a:t>
            </a:r>
            <a:r>
              <a:rPr lang="en-US" b="1" dirty="0" err="1">
                <a:latin typeface="Microsoft YaHei" panose="020B0503020204020204" charset="-122"/>
              </a:rPr>
              <a:t>tecnologia</a:t>
            </a:r>
            <a:endParaRPr b="1" dirty="0">
              <a:latin typeface="Microsoft YaHei" panose="020B0503020204020204" charset="-122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"/>
          <p:cNvSpPr/>
          <p:nvPr/>
        </p:nvSpPr>
        <p:spPr>
          <a:xfrm>
            <a:off x="-4912887" y="1344489"/>
            <a:ext cx="12203767" cy="5535101"/>
          </a:xfrm>
          <a:prstGeom prst="rect">
            <a:avLst/>
          </a:prstGeom>
          <a:solidFill>
            <a:srgbClr val="4617DE"/>
          </a:solidFill>
          <a:ln w="12700">
            <a:solidFill>
              <a:srgbClr val="4617DE"/>
            </a:solidFill>
            <a:miter lim="400000"/>
          </a:ln>
        </p:spPr>
        <p:txBody>
          <a:bodyPr lIns="45719" rIns="45719" anchor="ctr"/>
          <a:lstStyle/>
          <a:p/>
        </p:txBody>
      </p:sp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4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5"/>
          <a:srcRect l="1000" r="13538" b="33964"/>
          <a:stretch>
            <a:fillRect/>
          </a:stretch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5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497" y="2051146"/>
            <a:ext cx="4240770" cy="411718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6" name="A new generation…"/>
          <p:cNvSpPr txBox="1"/>
          <p:nvPr/>
        </p:nvSpPr>
        <p:spPr>
          <a:xfrm>
            <a:off x="8053070" y="2465705"/>
            <a:ext cx="3420745" cy="963295"/>
          </a:xfrm>
          <a:prstGeom prst="rect">
            <a:avLst/>
          </a:prstGeom>
          <a:ln w="12700">
            <a:miter lim="400000"/>
          </a:ln>
        </p:spPr>
        <p:txBody>
          <a:bodyPr wrap="none" lIns="45719" tIns="45720" rIns="45719" bIns="45720" anchor="t">
            <a:no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Safiri — Plataforma </a:t>
            </a:r>
            <a:endParaRPr lang="en-US" altLang="en-US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Digital de Turismo </a:t>
            </a:r>
            <a:endParaRPr lang="en-US" altLang="en-US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Sustentável e </a:t>
            </a:r>
            <a:endParaRPr lang="en-US" altLang="en-US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Preserva</a:t>
            </a:r>
            <a:r>
              <a:rPr lang="en-US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ç</a:t>
            </a:r>
            <a:r>
              <a:rPr lang="en-US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ão Cultural</a:t>
            </a:r>
            <a:endParaRPr lang="en-US" altLang="en-US" b="1" dirty="0">
              <a:solidFill>
                <a:schemeClr val="bg1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4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5"/>
          <a:srcRect l="1000" r="13538" b="33964"/>
          <a:stretch>
            <a:fillRect/>
          </a:stretch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6" name="A new generation…"/>
          <p:cNvSpPr txBox="1"/>
          <p:nvPr/>
        </p:nvSpPr>
        <p:spPr>
          <a:xfrm>
            <a:off x="3771900" y="1997075"/>
            <a:ext cx="4438650" cy="2242185"/>
          </a:xfrm>
          <a:prstGeom prst="rect">
            <a:avLst/>
          </a:prstGeom>
          <a:ln w="12700">
            <a:miter lim="400000"/>
          </a:ln>
        </p:spPr>
        <p:txBody>
          <a:bodyPr wrap="none" lIns="45719" tIns="45720" rIns="45719" bIns="45720" anchor="t">
            <a:no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Grupo 13:</a:t>
            </a:r>
            <a:endParaRPr lang="en-US" altLang="en-US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Luisani Caiuque</a:t>
            </a:r>
            <a:endParaRPr lang="en-US" altLang="en-US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Jos</a:t>
            </a:r>
            <a:r>
              <a:rPr lang="pt-PT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é Mateus</a:t>
            </a:r>
            <a:endParaRPr lang="pt-PT" altLang="en-US" b="1" dirty="0">
              <a:solidFill>
                <a:schemeClr val="bg1"/>
              </a:solidFill>
              <a:latin typeface="Microsoft YaHei" panose="020B0503020204020204" charset="-122"/>
            </a:endParaRPr>
          </a:p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pt-PT" altLang="en-US" b="1" dirty="0">
                <a:solidFill>
                  <a:schemeClr val="bg1"/>
                </a:solidFill>
                <a:latin typeface="Microsoft YaHei" panose="020B0503020204020204" charset="-122"/>
              </a:rPr>
              <a:t>Pedro Pedro</a:t>
            </a:r>
            <a:endParaRPr lang="pt-PT" altLang="en-US" b="1" dirty="0">
              <a:solidFill>
                <a:schemeClr val="bg1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670983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marL="0" indent="45720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O turismo cultural e ecológico é essencial para o desenvolvimento sustentável em Angola.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 marL="0" indent="45720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A ausência de plataformas inteligentes dificulta a divulga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e preserva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do património e biodiversidade.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 marL="0" indent="45720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Safiri surge como uma plataforma que une IA e cultura, promovendo turismo sustentável, educa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ambiental e valoriza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da identidade angolana.</a:t>
            </a:r>
            <a:endParaRPr lang="en-US" alt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40854" y="1926543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1801569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en-US" altLang="tr-TR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Introdu</a:t>
            </a:r>
            <a:r>
              <a:rPr lang="pt-PT" altLang="tr-TR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çao</a:t>
            </a:r>
            <a:endParaRPr lang="pt-PT" altLang="tr-TR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Falta de plataformas digitais inteligentes voltadas ao turismo angolano.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Património e biodiversidade pouco documentados digitalmente.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Crescimento de conteúdos falsos ou irrelevantes (spam).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O projeto visa classificar conteúdos culturais, recomendar destinos e detetar spam, apoiando a preserva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ambiental e cultural.</a:t>
            </a:r>
            <a:endParaRPr lang="en-US" alt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500" y="2252980"/>
            <a:ext cx="5398135" cy="619760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99274" y="2081271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en-US" altLang="en-US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Problema e Justificativa</a:t>
            </a:r>
            <a:endParaRPr lang="en-US" altLang="en-US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715" y="2950845"/>
            <a:ext cx="7816215" cy="3173095"/>
          </a:xfrm>
          <a:prstGeom prst="rect">
            <a:avLst/>
          </a:prstGeom>
        </p:spPr>
        <p:txBody>
          <a:bodyPr lIns="45719" tIns="45720" rIns="45719" bIns="45720" anchor="ctr">
            <a:noAutofit/>
          </a:bodyPr>
          <a:lstStyle/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dirty="0">
                <a:latin typeface="Microsoft YaHei Light" panose="020B0502040204020203" charset="-122"/>
              </a:rPr>
              <a:t>Objetivo Geral:</a:t>
            </a:r>
            <a:endParaRPr lang="en-US" altLang="en-US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dirty="0">
                <a:latin typeface="Microsoft YaHei Light" panose="020B0502040204020203" charset="-122"/>
              </a:rPr>
              <a:t>Promover o turismo sustentável e a valorização do património e biodiversidade através de uma plataforma colaborativa baseada em IA.</a:t>
            </a:r>
            <a:endParaRPr lang="en-US" altLang="en-US" sz="28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dirty="0">
                <a:latin typeface="Microsoft YaHei Light" panose="020B0502040204020203" charset="-122"/>
              </a:rPr>
              <a:t>Objetivos Específicos:</a:t>
            </a:r>
            <a:endParaRPr lang="en-US" altLang="en-US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dirty="0">
                <a:latin typeface="Microsoft YaHei Light" panose="020B0502040204020203" charset="-122"/>
              </a:rPr>
              <a:t>Classificar publicações sobre turismo e património.</a:t>
            </a:r>
            <a:endParaRPr lang="en-US" altLang="en-US" sz="28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dirty="0">
                <a:latin typeface="Microsoft YaHei Light" panose="020B0502040204020203" charset="-122"/>
              </a:rPr>
              <a:t>Recomendar destinos personalizados.</a:t>
            </a:r>
            <a:endParaRPr lang="en-US" altLang="en-US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dirty="0">
                <a:latin typeface="Microsoft YaHei Light" panose="020B0502040204020203" charset="-122"/>
              </a:rPr>
              <a:t>Detetar e eliminar spam.</a:t>
            </a:r>
            <a:endParaRPr lang="en-US" altLang="en-US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dirty="0">
                <a:latin typeface="Microsoft YaHei Light" panose="020B0502040204020203" charset="-122"/>
              </a:rPr>
              <a:t>Gerar roteiros culturais inteligentes com o Hugging Face API.</a:t>
            </a:r>
            <a:endParaRPr lang="en-US" altLang="en-US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363855" y="1491615"/>
            <a:ext cx="5398135" cy="545465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461784" y="1329431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en-US" sz="3350" b="1" dirty="0" err="1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Objetivos</a:t>
            </a:r>
            <a:r>
              <a:rPr lang="pt-PT" altLang="en-US" sz="3350" b="1" dirty="0" err="1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 do Projeto</a:t>
            </a:r>
            <a:endParaRPr lang="pt-PT" altLang="en-US" sz="3350" b="1" dirty="0" err="1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ODS 11.4: Proteger o património cultural e natural.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ODS 15: Proteger, restaurar e promover o uso sustentável dos ecossistemas terrestres.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ODS 9: Inova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e infraestrutura digital inclusiva.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 Safiri contribui diretamente para os ODS 11 e 15 ao unir IA, cultura e preserva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ambiental.</a:t>
            </a:r>
            <a:endParaRPr lang="en-US" alt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98305" y="2128261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en-US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Relação com ODS</a:t>
            </a:r>
            <a:endParaRPr lang="tr-TR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"/>
          <p:cNvSpPr/>
          <p:nvPr/>
        </p:nvSpPr>
        <p:spPr>
          <a:xfrm>
            <a:off x="-5486292" y="1322899"/>
            <a:ext cx="12203767" cy="5535101"/>
          </a:xfrm>
          <a:prstGeom prst="rect">
            <a:avLst/>
          </a:prstGeom>
          <a:solidFill>
            <a:srgbClr val="4617DE"/>
          </a:solidFill>
          <a:ln w="12700">
            <a:solidFill>
              <a:srgbClr val="4617DE"/>
            </a:solidFill>
            <a:miter lim="400000"/>
          </a:ln>
        </p:spPr>
        <p:txBody>
          <a:bodyPr lIns="45719" rIns="45719" anchor="ctr"/>
          <a:lstStyle/>
          <a:p/>
        </p:txBody>
      </p:sp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4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5"/>
          <a:srcRect l="1000" r="13538" b="33964"/>
          <a:stretch>
            <a:fillRect/>
          </a:stretch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5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497" y="2051146"/>
            <a:ext cx="4240770" cy="411718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6" name="A new generation…"/>
          <p:cNvSpPr txBox="1"/>
          <p:nvPr/>
        </p:nvSpPr>
        <p:spPr>
          <a:xfrm>
            <a:off x="6517835" y="3292353"/>
            <a:ext cx="5864022" cy="661720"/>
          </a:xfrm>
          <a:prstGeom prst="rect">
            <a:avLst/>
          </a:prstGeom>
          <a:ln w="12700">
            <a:miter lim="400000"/>
          </a:ln>
        </p:spPr>
        <p:txBody>
          <a:bodyPr wrap="square" lIns="45719" tIns="45720" rIns="45719" bIns="45720" anchor="t">
            <a:sp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b="1" dirty="0">
                <a:solidFill>
                  <a:schemeClr val="bg1"/>
                </a:solidFill>
                <a:latin typeface="Microsoft YaHei" panose="020B0503020204020204" charset="-122"/>
              </a:rPr>
              <a:t>Dados</a:t>
            </a:r>
            <a:endParaRPr b="1" dirty="0">
              <a:solidFill>
                <a:schemeClr val="bg1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 lnSpcReduction="20000"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Dataset simulado com 50 publica</a:t>
            </a:r>
            <a:r>
              <a:rPr lang="en-US" altLang="en-US" sz="1600" dirty="0">
                <a:latin typeface="Microsoft YaHei Light" panose="020B0502040204020203" charset="-122"/>
              </a:rPr>
              <a:t>çõ</a:t>
            </a:r>
            <a:r>
              <a:rPr lang="en-US" altLang="en-US" sz="1600" dirty="0">
                <a:latin typeface="Microsoft YaHei Light" panose="020B0502040204020203" charset="-122"/>
              </a:rPr>
              <a:t>es culturais.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Campos: id, texto, localidade, likes, comentários, spam, categoria.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Pré-processamento NLP: limpeza, tokeniza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ão, TF-IDF.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Métricas usadas: F1-score, Precisão, Revoca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ão, AUC.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Dados baseados em locais como Mbanza Kongo, Palanca Negra e Fortaleza de São Miguel.</a:t>
            </a:r>
            <a:endParaRPr lang="en-US" alt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2128261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en-US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Dados</a:t>
            </a:r>
            <a:endParaRPr lang="en-US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"/>
          <p:cNvSpPr/>
          <p:nvPr/>
        </p:nvSpPr>
        <p:spPr>
          <a:xfrm>
            <a:off x="-4235342" y="1344489"/>
            <a:ext cx="12203767" cy="5535101"/>
          </a:xfrm>
          <a:prstGeom prst="rect">
            <a:avLst/>
          </a:prstGeom>
          <a:solidFill>
            <a:srgbClr val="4617DE"/>
          </a:solidFill>
          <a:ln w="12700">
            <a:solidFill>
              <a:srgbClr val="4617DE"/>
            </a:solidFill>
            <a:miter lim="400000"/>
          </a:ln>
        </p:spPr>
        <p:txBody>
          <a:bodyPr lIns="45719" rIns="45719" anchor="ctr"/>
          <a:lstStyle/>
          <a:p/>
        </p:txBody>
      </p:sp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4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5"/>
          <a:srcRect l="1000" r="13538" b="33964"/>
          <a:stretch>
            <a:fillRect/>
          </a:stretch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5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497" y="2051146"/>
            <a:ext cx="4240770" cy="411718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6" name="A new generation…"/>
          <p:cNvSpPr txBox="1"/>
          <p:nvPr/>
        </p:nvSpPr>
        <p:spPr>
          <a:xfrm>
            <a:off x="6517835" y="3292353"/>
            <a:ext cx="5864022" cy="661720"/>
          </a:xfrm>
          <a:prstGeom prst="rect">
            <a:avLst/>
          </a:prstGeom>
          <a:ln w="12700">
            <a:miter lim="400000"/>
          </a:ln>
        </p:spPr>
        <p:txBody>
          <a:bodyPr wrap="square" lIns="45719" tIns="45720" rIns="45719" bIns="45720" anchor="t">
            <a:sp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b="1" dirty="0">
                <a:solidFill>
                  <a:schemeClr val="bg1"/>
                </a:solidFill>
                <a:latin typeface="Microsoft YaHei" panose="020B0503020204020204" charset="-122"/>
              </a:rPr>
              <a:t>Modelo</a:t>
            </a:r>
            <a:endParaRPr b="1" dirty="0">
              <a:solidFill>
                <a:schemeClr val="bg1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Rectangle"/>
          <p:cNvSpPr/>
          <p:nvPr/>
        </p:nvSpPr>
        <p:spPr>
          <a:xfrm>
            <a:off x="698305" y="2034273"/>
            <a:ext cx="6659425" cy="838560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2048014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 fontScale="90000"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en-US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Seleção e Treinamento / </a:t>
            </a:r>
            <a:r>
              <a:rPr lang="en-US" sz="3350" b="1" dirty="0" err="1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Teste de Modelos</a:t>
            </a:r>
            <a:endParaRPr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  <p:graphicFrame>
        <p:nvGraphicFramePr>
          <p:cNvPr id="9" name="Table 8"/>
          <p:cNvGraphicFramePr/>
          <p:nvPr/>
        </p:nvGraphicFramePr>
        <p:xfrm>
          <a:off x="668020" y="2936240"/>
          <a:ext cx="8533765" cy="152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4165"/>
                <a:gridCol w="2844165"/>
                <a:gridCol w="2844165"/>
              </a:tblGrid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Tarefa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Modelo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Descrição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Classificação de Posts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Logistic Regression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Identifica tipo de conteúdo cultural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Deteção de Spam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Naive Bayes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Remove publicações irrelevantes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Recomendação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Similaridade Coseno</a:t>
                      </a:r>
                      <a:r>
                        <a:rPr lang="en-US" altLang="en-US" sz="1600"/>
                        <a:t>/</a:t>
                      </a:r>
                      <a:r>
                        <a:rPr lang="pt-PT" altLang="en-US" sz="1600"/>
                        <a:t>TF</a:t>
                      </a:r>
                      <a:r>
                        <a:rPr lang="en-US" altLang="en-US" sz="1600"/>
                        <a:t>-</a:t>
                      </a:r>
                      <a:r>
                        <a:rPr lang="pt-PT" altLang="en-US" sz="1600"/>
                        <a:t>IDF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600"/>
                        <a:t>Sugere destinos e patrimónios similares</a:t>
                      </a:r>
                      <a:endParaRPr lang="pt-PT" altLang="en-US" sz="1600"/>
                    </a:p>
                  </a:txBody>
                  <a:tcPr anchor="b" anchorCtr="0">
                    <a:solidFill>
                      <a:srgbClr val="4617D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"/>
          <p:cNvSpPr/>
          <p:nvPr/>
        </p:nvSpPr>
        <p:spPr>
          <a:xfrm>
            <a:off x="-4594117" y="1322899"/>
            <a:ext cx="12203767" cy="5535101"/>
          </a:xfrm>
          <a:prstGeom prst="rect">
            <a:avLst/>
          </a:prstGeom>
          <a:solidFill>
            <a:srgbClr val="4617DE"/>
          </a:solidFill>
          <a:ln w="12700">
            <a:solidFill>
              <a:srgbClr val="4617DE"/>
            </a:solidFill>
            <a:miter lim="400000"/>
          </a:ln>
        </p:spPr>
        <p:txBody>
          <a:bodyPr lIns="45719" rIns="45719" anchor="ctr"/>
          <a:lstStyle/>
          <a:p/>
        </p:txBody>
      </p:sp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4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5"/>
          <a:srcRect l="1000" r="13538" b="33964"/>
          <a:stretch>
            <a:fillRect/>
          </a:stretch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5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497" y="2051146"/>
            <a:ext cx="4240770" cy="411718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6" name="A new generation…"/>
          <p:cNvSpPr txBox="1"/>
          <p:nvPr/>
        </p:nvSpPr>
        <p:spPr>
          <a:xfrm>
            <a:off x="6517835" y="3292353"/>
            <a:ext cx="5864022" cy="661720"/>
          </a:xfrm>
          <a:prstGeom prst="rect">
            <a:avLst/>
          </a:prstGeom>
          <a:ln w="12700">
            <a:miter lim="400000"/>
          </a:ln>
        </p:spPr>
        <p:txBody>
          <a:bodyPr wrap="square" lIns="45719" tIns="45720" rIns="45719" bIns="45720" anchor="t">
            <a:sp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b="1" dirty="0" err="1">
                <a:solidFill>
                  <a:schemeClr val="bg1"/>
                </a:solidFill>
                <a:latin typeface="Microsoft YaHei" panose="020B0503020204020204" charset="-122"/>
              </a:rPr>
              <a:t>Resultado</a:t>
            </a:r>
            <a:endParaRPr b="1" dirty="0">
              <a:solidFill>
                <a:schemeClr val="bg1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98305" y="2128261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en-US" sz="3350" b="1" dirty="0" err="1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Resultados </a:t>
            </a:r>
            <a:endParaRPr lang="tr-TR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  <p:graphicFrame>
        <p:nvGraphicFramePr>
          <p:cNvPr id="3" name="Table 2"/>
          <p:cNvGraphicFramePr/>
          <p:nvPr/>
        </p:nvGraphicFramePr>
        <p:xfrm>
          <a:off x="669290" y="2997835"/>
          <a:ext cx="853123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06246"/>
                <a:gridCol w="1706246"/>
                <a:gridCol w="1706246"/>
                <a:gridCol w="1706246"/>
                <a:gridCol w="1706246"/>
              </a:tblGrid>
              <a:tr h="5486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Modelo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F1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Precisão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Revocação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AUC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</a:tr>
              <a:tr h="5486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Logistic Regression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0.88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0.90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0.86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0.91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</a:tr>
              <a:tr h="5486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Naive Bates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0.82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0.83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0.80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PT" altLang="en-US" sz="1400"/>
                        <a:t>0.87</a:t>
                      </a:r>
                      <a:endParaRPr lang="pt-PT" altLang="en-US" sz="1400"/>
                    </a:p>
                  </a:txBody>
                  <a:tcPr>
                    <a:solidFill>
                      <a:srgbClr val="4617DE"/>
                    </a:solidFill>
                  </a:tcPr>
                </a:tc>
              </a:tr>
            </a:tbl>
          </a:graphicData>
        </a:graphic>
      </p:graphicFrame>
      <p:sp>
        <p:nvSpPr>
          <p:cNvPr id="5" name="Text Box 4"/>
          <p:cNvSpPr txBox="1"/>
          <p:nvPr/>
        </p:nvSpPr>
        <p:spPr>
          <a:xfrm>
            <a:off x="698500" y="4643755"/>
            <a:ext cx="5364480" cy="202882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45719" tIns="45719" rIns="45719" bIns="45719" numCol="1" spcCol="38100" rtlCol="0" anchor="t" forceAA="0">
            <a:spAutoFit/>
          </a:bodyPr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0" i="0" u="none" strike="noStrike" cap="none" spc="0" normalizeH="0" baseline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Calibri" panose="020F0502020204030204"/>
              </a:rPr>
              <a:t>Visualiza</a:t>
            </a:r>
            <a:r>
              <a:rPr kumimoji="0" lang="en-US" altLang="en-US" sz="1800" b="0" i="0" u="none" strike="noStrike" cap="none" spc="0" normalizeH="0" baseline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Calibri" panose="020F0502020204030204"/>
              </a:rPr>
              <a:t>çõ</a:t>
            </a:r>
            <a:r>
              <a:rPr kumimoji="0" lang="en-US" altLang="en-US" sz="1800" b="0" i="0" u="none" strike="noStrike" cap="none" spc="0" normalizeH="0" baseline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Calibri" panose="020F0502020204030204"/>
              </a:rPr>
              <a:t>es:</a:t>
            </a:r>
            <a:endParaRPr kumimoji="0" lang="en-US" altLang="en-US" sz="1800" b="0" i="0" u="none" strike="noStrike" cap="none" spc="0" normalizeH="0" baseline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FillTx/>
              <a:latin typeface="+mj-lt"/>
              <a:ea typeface="+mj-ea"/>
              <a:cs typeface="+mj-cs"/>
              <a:sym typeface="Calibri" panose="020F0502020204030204"/>
            </a:endParaRP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altLang="en-US" sz="1800" b="0" i="0" u="none" strike="noStrike" cap="none" spc="0" normalizeH="0" baseline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FillTx/>
              <a:latin typeface="+mj-lt"/>
              <a:ea typeface="+mj-ea"/>
              <a:cs typeface="+mj-cs"/>
              <a:sym typeface="Calibri" panose="020F0502020204030204"/>
            </a:endParaRP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0" i="0" u="none" strike="noStrike" cap="none" spc="0" normalizeH="0" baseline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Calibri" panose="020F0502020204030204"/>
              </a:rPr>
              <a:t>Matriz de confusão</a:t>
            </a:r>
            <a:endParaRPr kumimoji="0" lang="en-US" altLang="en-US" sz="1800" b="0" i="0" u="none" strike="noStrike" cap="none" spc="0" normalizeH="0" baseline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FillTx/>
              <a:latin typeface="+mj-lt"/>
              <a:ea typeface="+mj-ea"/>
              <a:cs typeface="+mj-cs"/>
              <a:sym typeface="Calibri" panose="020F0502020204030204"/>
            </a:endParaRP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altLang="en-US" sz="1800" b="0" i="0" u="none" strike="noStrike" cap="none" spc="0" normalizeH="0" baseline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FillTx/>
              <a:latin typeface="+mj-lt"/>
              <a:ea typeface="+mj-ea"/>
              <a:cs typeface="+mj-cs"/>
              <a:sym typeface="Calibri" panose="020F0502020204030204"/>
            </a:endParaRP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0" i="0" u="none" strike="noStrike" cap="none" spc="0" normalizeH="0" baseline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Calibri" panose="020F0502020204030204"/>
              </a:rPr>
              <a:t>Gráficos de barras comparativos</a:t>
            </a:r>
            <a:endParaRPr kumimoji="0" lang="en-US" altLang="en-US" sz="1800" b="0" i="0" u="none" strike="noStrike" cap="none" spc="0" normalizeH="0" baseline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FillTx/>
              <a:latin typeface="+mj-lt"/>
              <a:ea typeface="+mj-ea"/>
              <a:cs typeface="+mj-cs"/>
              <a:sym typeface="Calibri" panose="020F0502020204030204"/>
            </a:endParaRP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altLang="en-US" sz="1800" b="0" i="0" u="none" strike="noStrike" cap="none" spc="0" normalizeH="0" baseline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FillTx/>
              <a:latin typeface="+mj-lt"/>
              <a:ea typeface="+mj-ea"/>
              <a:cs typeface="+mj-cs"/>
              <a:sym typeface="Calibri" panose="020F0502020204030204"/>
            </a:endParaRP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0" i="0" u="none" strike="noStrike" cap="none" spc="0" normalizeH="0" baseline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Calibri" panose="020F0502020204030204"/>
              </a:rPr>
              <a:t>Evolu</a:t>
            </a:r>
            <a:r>
              <a:rPr kumimoji="0" lang="en-US" altLang="en-US" sz="1800" b="0" i="0" u="none" strike="noStrike" cap="none" spc="0" normalizeH="0" baseline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Calibri" panose="020F0502020204030204"/>
              </a:rPr>
              <a:t>ç</a:t>
            </a:r>
            <a:r>
              <a:rPr kumimoji="0" lang="en-US" altLang="en-US" sz="1800" b="0" i="0" u="none" strike="noStrike" cap="none" spc="0" normalizeH="0" baseline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latin typeface="+mj-lt"/>
                <a:ea typeface="+mj-ea"/>
                <a:cs typeface="+mj-cs"/>
                <a:sym typeface="Calibri" panose="020F0502020204030204"/>
              </a:rPr>
              <a:t>ão do desempenho nos testes</a:t>
            </a:r>
            <a:endParaRPr kumimoji="0" lang="en-US" altLang="en-US" sz="1800" b="0" i="0" u="none" strike="noStrike" cap="none" spc="0" normalizeH="0" baseline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FillTx/>
              <a:latin typeface="+mj-lt"/>
              <a:ea typeface="+mj-ea"/>
              <a:cs typeface="+mj-cs"/>
              <a:sym typeface="Calibri" panose="020F0502020204030204"/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"/>
          <p:cNvSpPr/>
          <p:nvPr/>
        </p:nvSpPr>
        <p:spPr>
          <a:xfrm>
            <a:off x="-4418222" y="1322899"/>
            <a:ext cx="12203767" cy="5535101"/>
          </a:xfrm>
          <a:prstGeom prst="rect">
            <a:avLst/>
          </a:prstGeom>
          <a:solidFill>
            <a:srgbClr val="4617DE"/>
          </a:solidFill>
          <a:ln w="12700">
            <a:solidFill>
              <a:srgbClr val="4617DE"/>
            </a:solidFill>
            <a:miter lim="400000"/>
          </a:ln>
        </p:spPr>
        <p:txBody>
          <a:bodyPr lIns="45719" rIns="45719" anchor="ctr"/>
          <a:lstStyle/>
          <a:p/>
        </p:txBody>
      </p:sp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4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5"/>
          <a:srcRect l="1000" r="13538" b="33964"/>
          <a:stretch>
            <a:fillRect/>
          </a:stretch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75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497" y="2051146"/>
            <a:ext cx="4240770" cy="411718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6" name="A new generation…"/>
          <p:cNvSpPr txBox="1"/>
          <p:nvPr/>
        </p:nvSpPr>
        <p:spPr>
          <a:xfrm>
            <a:off x="6517835" y="3292353"/>
            <a:ext cx="5864022" cy="660400"/>
          </a:xfrm>
          <a:prstGeom prst="rect">
            <a:avLst/>
          </a:prstGeom>
          <a:ln w="12700">
            <a:miter lim="400000"/>
          </a:ln>
        </p:spPr>
        <p:txBody>
          <a:bodyPr wrap="square" lIns="45719" tIns="45720" rIns="45719" bIns="45720" anchor="t">
            <a:sp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pt-PT" b="1" dirty="0">
                <a:solidFill>
                  <a:schemeClr val="bg1"/>
                </a:solidFill>
                <a:latin typeface="Microsoft YaHei" panose="020B0503020204020204" charset="-122"/>
              </a:rPr>
              <a:t>Arquitetura</a:t>
            </a:r>
            <a:endParaRPr lang="pt-PT" b="1" dirty="0">
              <a:solidFill>
                <a:schemeClr val="bg1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Camadas Principais: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Frontend (React) — Interface colaborativa e responsiva.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Backend (Django) — API de dados e integra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do ML.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Módulo de IA (Python + Scikit-learn + Hugging Face) — Classifica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ão, recomenda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e roteiriza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inteligente.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Base de Dados (PostgreSQL) — Armazenamento de utilizadores, destinos e publica</a:t>
            </a:r>
            <a:r>
              <a:rPr lang="en-US" altLang="en-US" sz="1600" dirty="0">
                <a:latin typeface="Microsoft YaHei Light" panose="020B0502040204020203" charset="-122"/>
              </a:rPr>
              <a:t>çõ</a:t>
            </a:r>
            <a:r>
              <a:rPr lang="en-US" altLang="en-US" sz="1600" dirty="0">
                <a:latin typeface="Microsoft YaHei Light" panose="020B0502040204020203" charset="-122"/>
              </a:rPr>
              <a:t>es.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Fluxo: Utilizador → Frontend → Backend → Modelos de IA → Resultado.</a:t>
            </a:r>
            <a:endParaRPr lang="en-US" alt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500" y="2252980"/>
            <a:ext cx="5953760" cy="619760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715" y="2060575"/>
            <a:ext cx="7755890" cy="812165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pt-PT" altLang="en-US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Arquitetura da Plataforma</a:t>
            </a:r>
            <a:endParaRPr lang="pt-PT" altLang="en-US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Safiri demonstra como a IA pode servir o turismo e a preserva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cultural.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A integra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de ML e NLP possibilita recomenda</a:t>
            </a:r>
            <a:r>
              <a:rPr lang="en-US" altLang="en-US" sz="1600" dirty="0">
                <a:latin typeface="Microsoft YaHei Light" panose="020B0502040204020203" charset="-122"/>
              </a:rPr>
              <a:t>çõ</a:t>
            </a:r>
            <a:r>
              <a:rPr lang="en-US" altLang="en-US" sz="1600" dirty="0">
                <a:latin typeface="Microsoft YaHei Light" panose="020B0502040204020203" charset="-122"/>
              </a:rPr>
              <a:t>es inteligentes e dete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de spam.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O roteirizador (Hugging Face) expande o acesso a conteúdos culturais e ecológicos.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O projeto refor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a o papel da tecnologia na constru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de uma </a:t>
            </a:r>
            <a:r>
              <a:rPr lang="en-US" altLang="en-US" sz="1600" dirty="0">
                <a:latin typeface="Microsoft YaHei Light" panose="020B0502040204020203" charset="-122"/>
              </a:rPr>
              <a:t>Á</a:t>
            </a:r>
            <a:r>
              <a:rPr lang="en-US" altLang="en-US" sz="1600" dirty="0">
                <a:latin typeface="Microsoft YaHei Light" panose="020B0502040204020203" charset="-122"/>
              </a:rPr>
              <a:t>frica digital e sustentável.</a:t>
            </a:r>
            <a:endParaRPr lang="en-US" alt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500" y="2128520"/>
            <a:ext cx="3486150" cy="744220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715" y="2128520"/>
            <a:ext cx="2821940" cy="869315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en-US" sz="3350" b="1" dirty="0" err="1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Conclusão</a:t>
            </a:r>
            <a:endParaRPr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Expansão do dataset com dados reais de ministérios e ONGs culturais.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Uso de modelos BERT ou transformers multilingues.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Aplicativo móvel (versão Android/iOS).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Dashboard de métricas de impacto turístico e ecológico.</a:t>
            </a:r>
            <a:endParaRPr lang="en-US" alt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500" y="2128520"/>
            <a:ext cx="4145280" cy="744220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715" y="2128520"/>
            <a:ext cx="4429125" cy="869315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en-US" sz="3350" b="1" dirty="0" err="1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Trabalho futuro</a:t>
            </a:r>
            <a:endParaRPr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 lnSpcReduction="20000"/>
          </a:bodyPr>
          <a:lstStyle/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Ade-Ibijola, A. (2020). Artificial Intelligence for Social Good in Africa. African Journal of Information Systems.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Kunda, D., &amp; Ngoma, M. (2021). Cultural Context in African AI Systems. University of Zambia Press.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Silva, F., &amp; Tchissola, M. (2023). Preserva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 Digital do Património Cultural Angolano através da IA. Revista Angolana de Computa</a:t>
            </a:r>
            <a:r>
              <a:rPr lang="en-US" altLang="en-US" sz="1600" dirty="0">
                <a:latin typeface="Microsoft YaHei Light" panose="020B0502040204020203" charset="-122"/>
              </a:rPr>
              <a:t>ç</a:t>
            </a:r>
            <a:r>
              <a:rPr lang="en-US" altLang="en-US" sz="1600" dirty="0">
                <a:latin typeface="Microsoft YaHei Light" panose="020B0502040204020203" charset="-122"/>
              </a:rPr>
              <a:t>ão.</a:t>
            </a: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altLang="en-US" sz="1600" dirty="0">
              <a:latin typeface="Microsoft YaHei Light" panose="020B0502040204020203" charset="-122"/>
            </a:endParaRP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altLang="en-US" sz="1600" dirty="0">
                <a:latin typeface="Microsoft YaHei Light" panose="020B0502040204020203" charset="-122"/>
              </a:rPr>
              <a:t>Russell, S., &amp; Norvig, P. (2022). Artificial Intelligence: A Modern Approach. Pearson Education.</a:t>
            </a:r>
            <a:endParaRPr lang="en-US" altLang="en-US" sz="1600" dirty="0">
              <a:latin typeface="Microsoft YaHei Light" panose="020B0502040204020203" charset="-122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500" y="2128520"/>
            <a:ext cx="4145280" cy="744220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715" y="2128520"/>
            <a:ext cx="4429125" cy="869315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655">
              <a:defRPr sz="3395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pt-PT" sz="3350" b="1" dirty="0">
                <a:solidFill>
                  <a:schemeClr val="bg1"/>
                </a:solidFill>
                <a:latin typeface="Microsoft YaHei" panose="020B0503020204020204" charset="-122"/>
                <a:ea typeface="Merriweather Sans Regular ExtraBold"/>
                <a:cs typeface="Merriweather Sans Regular ExtraBold"/>
              </a:rPr>
              <a:t>Referências</a:t>
            </a:r>
            <a:endParaRPr lang="pt-PT" sz="3350" b="1" dirty="0">
              <a:solidFill>
                <a:schemeClr val="bg1"/>
              </a:solidFill>
              <a:latin typeface="Microsoft YaHei" panose="020B0503020204020204" charset="-122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grpSp>
        <p:nvGrpSpPr>
          <p:cNvPr id="2" name="Group 1"/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5" name="Picture 14" descr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6" name="pasted-movie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  <p:pic>
          <p:nvPicPr>
            <p:cNvPr id="17" name="pasted-movie.png"/>
            <p:cNvPicPr>
              <a:picLocks noChangeAspect="1"/>
            </p:cNvPicPr>
            <p:nvPr/>
          </p:nvPicPr>
          <p:blipFill>
            <a:blip r:embed="rId5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  <a:headEnd/>
              <a:tailEnd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r:id="rId6" p14:bwMode="auto">
            <p14:nvContentPartPr>
              <p14:cNvPr id="20" name="Ink 19"/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7"/>
            </p:blipFill>
            <p:spPr>
              <a:xfrm>
                <a:off x="9907437" y="716254"/>
                <a:ext cx="13252" cy="13252"/>
              </a:xfrm>
              <a:prstGeom prst="rect"/>
            </p:spPr>
          </p:pic>
        </mc:Fallback>
      </mc:AlternateContent>
      <p:sp>
        <p:nvSpPr>
          <p:cNvPr id="22" name="Rectangle"/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mc:AlternateContent xmlns:mc="http://schemas.openxmlformats.org/markup-compatibility/2006" xmlns:p14="http://schemas.microsoft.com/office/powerpoint/2010/main">
        <mc:Choice Requires="p14">
          <p:contentPart r:id="rId8" p14:bwMode="auto">
            <p14:nvContentPartPr>
              <p14:cNvPr id="23" name="Ink 22"/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/>
            </p:nvPicPr>
            <p:blipFill>
              <a:blip r:embed="rId9"/>
            </p:blipFill>
            <p:spPr>
              <a:xfrm>
                <a:off x="1100137" y="565105"/>
                <a:ext cx="13252" cy="13252"/>
              </a:xfrm>
              <a:prstGeom prst="rect"/>
            </p:spPr>
          </p:pic>
        </mc:Fallback>
      </mc:AlternateContent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Rectangle"/>
          <p:cNvSpPr/>
          <p:nvPr/>
        </p:nvSpPr>
        <p:spPr>
          <a:xfrm>
            <a:off x="-11767" y="1343345"/>
            <a:ext cx="12215534" cy="5531503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/>
        </p:txBody>
      </p:sp>
      <p:pic>
        <p:nvPicPr>
          <p:cNvPr id="659" name="Picture 7" descr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60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61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62" name="pasted-movie.png" descr="pasted-movie.png"/>
          <p:cNvPicPr>
            <a:picLocks noChangeAspect="1"/>
          </p:cNvPicPr>
          <p:nvPr/>
        </p:nvPicPr>
        <p:blipFill>
          <a:blip r:embed="rId4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63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7704" y="2355271"/>
            <a:ext cx="2919045" cy="283709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4" name="Thank you!"/>
          <p:cNvSpPr txBox="1">
            <a:spLocks noGrp="1"/>
          </p:cNvSpPr>
          <p:nvPr>
            <p:ph type="ctrTitle" idx="4294967295"/>
          </p:nvPr>
        </p:nvSpPr>
        <p:spPr>
          <a:xfrm>
            <a:off x="3476848" y="3264195"/>
            <a:ext cx="5279148" cy="2396164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>
              <a:lnSpc>
                <a:spcPct val="60000"/>
              </a:lnSpc>
              <a:defRPr sz="8000">
                <a:solidFill>
                  <a:srgbClr val="FFFFFF"/>
                </a:solidFill>
                <a:latin typeface="Merriweather Sans Regular ExtraBold"/>
                <a:ea typeface="Merriweather Sans Regular ExtraBold"/>
                <a:cs typeface="Merriweather Sans Regular ExtraBold"/>
                <a:sym typeface="Merriweather Sans Regular ExtraBold"/>
              </a:defRPr>
            </a:lvl1pPr>
          </a:lstStyle>
          <a:p>
            <a:pPr>
              <a:lnSpc>
                <a:spcPct val="100000"/>
              </a:lnSpc>
            </a:pPr>
            <a:r>
              <a:rPr sz="7200" b="1" dirty="0" err="1">
                <a:latin typeface="Microsoft YaHei" panose="020B0503020204020204" charset="-122"/>
              </a:rPr>
              <a:t>Obrigado</a:t>
            </a:r>
            <a:r>
              <a:rPr sz="7200" b="1" dirty="0">
                <a:latin typeface="Microsoft YaHei" panose="020B0503020204020204" charset="-122"/>
              </a:rPr>
              <a:t>!</a:t>
            </a:r>
            <a:endParaRPr lang="en-US" sz="7200" b="1" dirty="0">
              <a:latin typeface="Microsoft YaHei" panose="020B0503020204020204" charset="-122"/>
            </a:endParaRPr>
          </a:p>
        </p:txBody>
      </p:sp>
      <p:pic>
        <p:nvPicPr>
          <p:cNvPr id="665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03668" y="647699"/>
            <a:ext cx="5015131" cy="702400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frontiertech">
  <a:themeElements>
    <a:clrScheme name="frontiertech">
      <a:dk1>
        <a:srgbClr val="2B2551"/>
      </a:dk1>
      <a:lt1>
        <a:srgbClr val="FEFFFE"/>
      </a:lt1>
      <a:dk2>
        <a:srgbClr val="A7A7A7"/>
      </a:dk2>
      <a:lt2>
        <a:srgbClr val="535353"/>
      </a:lt2>
      <a:accent1>
        <a:srgbClr val="FEC736"/>
      </a:accent1>
      <a:accent2>
        <a:srgbClr val="4CA2A9"/>
      </a:accent2>
      <a:accent3>
        <a:srgbClr val="5E73AC"/>
      </a:accent3>
      <a:accent4>
        <a:srgbClr val="B68A29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frontiertech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frontiertec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iertech">
  <a:themeElements>
    <a:clrScheme name="frontiertech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EC736"/>
      </a:accent1>
      <a:accent2>
        <a:srgbClr val="4CA2A9"/>
      </a:accent2>
      <a:accent3>
        <a:srgbClr val="5E73AC"/>
      </a:accent3>
      <a:accent4>
        <a:srgbClr val="B68A29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frontiertech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frontiertec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7847797-b717-4ffb-b5fd-2a237f853cda" xsi:nil="true"/>
    <lcf76f155ced4ddcb4097134ff3c332f xmlns="6259e846-8b77-4076-b7b3-191dee427045">
      <Terms xmlns="http://schemas.microsoft.com/office/infopath/2007/PartnerControls"/>
    </lcf76f155ced4ddcb4097134ff3c332f>
    <SharedWithUsers xmlns="97847797-b717-4ffb-b5fd-2a237f853cda">
      <UserInfo>
        <DisplayName>Yawen Liu</DisplayName>
        <AccountId>199</AccountId>
        <AccountType/>
      </UserInfo>
    </SharedWithUsers>
    <_Flow_SignoffStatus xmlns="6259e846-8b77-4076-b7b3-191dee427045" xsi:nil="true"/>
    <Time xmlns="6259e846-8b77-4076-b7b3-191dee42704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E9A02BA3BD6C54284F20B51199E6706" ma:contentTypeVersion="17" ma:contentTypeDescription="Create a new document." ma:contentTypeScope="" ma:versionID="c98d0228abce7754384ebe83b64f5abe">
  <xsd:schema xmlns:xsd="http://www.w3.org/2001/XMLSchema" xmlns:xs="http://www.w3.org/2001/XMLSchema" xmlns:p="http://schemas.microsoft.com/office/2006/metadata/properties" xmlns:ns2="6259e846-8b77-4076-b7b3-191dee427045" xmlns:ns3="97847797-b717-4ffb-b5fd-2a237f853cda" targetNamespace="http://schemas.microsoft.com/office/2006/metadata/properties" ma:root="true" ma:fieldsID="6e2117bc6268b3a71bdab3243b1b5906" ns2:_="" ns3:_="">
    <xsd:import namespace="6259e846-8b77-4076-b7b3-191dee427045"/>
    <xsd:import namespace="97847797-b717-4ffb-b5fd-2a237f853c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_Flow_SignoffStatus" minOccurs="0"/>
                <xsd:element ref="ns2:Time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59e846-8b77-4076-b7b3-191dee4270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f8ebb0a5-c57d-4c3a-bec7-8a38252dd05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2" nillable="true" ma:displayName="Sign-off status" ma:internalName="Sign_x002d_off_x0020_status">
      <xsd:simpleType>
        <xsd:restriction base="dms:Text"/>
      </xsd:simpleType>
    </xsd:element>
    <xsd:element name="Time" ma:index="23" nillable="true" ma:displayName="Time" ma:format="DateOnly" ma:indexed="true" ma:internalName="Time">
      <xsd:simpleType>
        <xsd:restriction base="dms:DateTim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847797-b717-4ffb-b5fd-2a237f853cda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1c6c02b-ebe2-4c4d-aa1a-1071032b151f}" ma:internalName="TaxCatchAll" ma:showField="CatchAllData" ma:web="97847797-b717-4ffb-b5fd-2a237f853c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FFB1A3-86F8-4D83-B399-9B6D5E293CEC}">
  <ds:schemaRefs/>
</ds:datastoreItem>
</file>

<file path=customXml/itemProps2.xml><?xml version="1.0" encoding="utf-8"?>
<ds:datastoreItem xmlns:ds="http://schemas.openxmlformats.org/officeDocument/2006/customXml" ds:itemID="{A22449C5-8A7C-4DDF-8BBD-9834F5F8D2B3}">
  <ds:schemaRefs/>
</ds:datastoreItem>
</file>

<file path=customXml/itemProps3.xml><?xml version="1.0" encoding="utf-8"?>
<ds:datastoreItem xmlns:ds="http://schemas.openxmlformats.org/officeDocument/2006/customXml" ds:itemID="{EE9C168A-BF07-44C9-8193-C4E90CE77165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3747</Words>
  <Application>WPS Presentation</Application>
  <PresentationFormat>Widescreen</PresentationFormat>
  <Paragraphs>160</Paragraphs>
  <Slides>19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6" baseType="lpstr">
      <vt:lpstr>Arial</vt:lpstr>
      <vt:lpstr>SimSun</vt:lpstr>
      <vt:lpstr>Wingdings</vt:lpstr>
      <vt:lpstr>Calibri</vt:lpstr>
      <vt:lpstr>Calibri Light</vt:lpstr>
      <vt:lpstr>Arial</vt:lpstr>
      <vt:lpstr>Helvetica Neue Thin</vt:lpstr>
      <vt:lpstr>Segoe Print</vt:lpstr>
      <vt:lpstr>Myriad Pro Semibold</vt:lpstr>
      <vt:lpstr>Microsoft YaHei</vt:lpstr>
      <vt:lpstr>Merriweather Sans Light</vt:lpstr>
      <vt:lpstr>Microsoft YaHei Light</vt:lpstr>
      <vt:lpstr>Merriweather Sans Regular</vt:lpstr>
      <vt:lpstr>Merriweather Sans Regular ExtraBold</vt:lpstr>
      <vt:lpstr>Arial Unicode MS</vt:lpstr>
      <vt:lpstr>Helvetica</vt:lpstr>
      <vt:lpstr>frontiertech</vt:lpstr>
      <vt:lpstr>PowerPoint 演示文稿</vt:lpstr>
      <vt:lpstr>PowerPoint 演示文稿</vt:lpstr>
      <vt:lpstr>PowerPoint 演示文稿</vt:lpstr>
      <vt:lpstr>Introduçao</vt:lpstr>
      <vt:lpstr>Problema e Justificativa</vt:lpstr>
      <vt:lpstr>Objetivos do Projeto</vt:lpstr>
      <vt:lpstr>Relação com ODS</vt:lpstr>
      <vt:lpstr>PowerPoint 演示文稿</vt:lpstr>
      <vt:lpstr>Dados</vt:lpstr>
      <vt:lpstr>PowerPoint 演示文稿</vt:lpstr>
      <vt:lpstr>Seleção e Treinamento / Teste de Modelos</vt:lpstr>
      <vt:lpstr>PowerPoint 演示文稿</vt:lpstr>
      <vt:lpstr>Resultados </vt:lpstr>
      <vt:lpstr>PowerPoint 演示文稿</vt:lpstr>
      <vt:lpstr>Arquitetura da Plataforma</vt:lpstr>
      <vt:lpstr>Conclusão</vt:lpstr>
      <vt:lpstr>Trabalho futuro</vt:lpstr>
      <vt:lpstr>Referências</vt:lpstr>
      <vt:lpstr>Obrigado!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luisa</cp:lastModifiedBy>
  <cp:revision>23</cp:revision>
  <dcterms:created xsi:type="dcterms:W3CDTF">2025-11-07T19:49:00Z</dcterms:created>
  <dcterms:modified xsi:type="dcterms:W3CDTF">2025-11-13T16:46:17Z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0x0101007E9A02BA3BD6C54284F20B51199E6706</vt:lpwstr>
  </property>
  <property fmtid="{D5CDD505-2E9C-101B-9397-08002B2CF9AE}" pid="3" name="MediaServiceImageTags">
    <vt:lpwstr/>
  </property>
  <property fmtid="{D5CDD505-2E9C-101B-9397-08002B2CF9AE}" pid="4" name="ICV">
    <vt:lpwstr>F0237D60CFAE4AD2B1A3772CFA581480_12</vt:lpwstr>
  </property>
  <property fmtid="{D5CDD505-2E9C-101B-9397-08002B2CF9AE}" pid="5" name="KSOProductBuildVer">
    <vt:lpwstr>1033-12.2.0.23131</vt:lpwstr>
  </property>
</Properties>
</file>