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78" r:id="rId4"/>
    <p:sldId id="258" r:id="rId5"/>
    <p:sldId id="269" r:id="rId7"/>
    <p:sldId id="270" r:id="rId8"/>
    <p:sldId id="271" r:id="rId9"/>
    <p:sldId id="281" r:id="rId10"/>
    <p:sldId id="272" r:id="rId11"/>
    <p:sldId id="282" r:id="rId12"/>
    <p:sldId id="274" r:id="rId13"/>
    <p:sldId id="286" r:id="rId14"/>
    <p:sldId id="283" r:id="rId15"/>
    <p:sldId id="287" r:id="rId16"/>
    <p:sldId id="284" r:id="rId17"/>
    <p:sldId id="277" r:id="rId18"/>
    <p:sldId id="288" r:id="rId19"/>
    <p:sldId id="289" r:id="rId20"/>
    <p:sldId id="268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ustomXml" Target="../customXml/item3.xml"/><Relationship Id="rId27" Type="http://schemas.openxmlformats.org/officeDocument/2006/relationships/customXml" Target="../customXml/item2.xml"/><Relationship Id="rId26" Type="http://schemas.openxmlformats.org/officeDocument/2006/relationships/customXml" Target="../customXml/item1.xml"/><Relationship Id="rId25" Type="http://schemas.microsoft.com/office/2018/10/relationships/authors" Target="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5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9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</a:p>
        </p:txBody>
      </p:sp>
      <p:sp>
        <p:nvSpPr>
          <p:cNvPr id="28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9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</a:p>
        </p:txBody>
      </p:sp>
      <p:sp>
        <p:nvSpPr>
          <p:cNvPr id="40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9" Type="http://schemas.openxmlformats.org/officeDocument/2006/relationships/theme" Target="../theme/theme1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2.xml"/><Relationship Id="rId7" Type="http://schemas.openxmlformats.org/officeDocument/2006/relationships/image" Target="../media/image14.png"/><Relationship Id="rId6" Type="http://schemas.openxmlformats.org/officeDocument/2006/relationships/customXml" Target="../ink/ink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4.xml"/><Relationship Id="rId7" Type="http://schemas.openxmlformats.org/officeDocument/2006/relationships/image" Target="../media/image14.png"/><Relationship Id="rId6" Type="http://schemas.openxmlformats.org/officeDocument/2006/relationships/customXml" Target="../ink/ink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6.xml"/><Relationship Id="rId7" Type="http://schemas.openxmlformats.org/officeDocument/2006/relationships/image" Target="../media/image14.png"/><Relationship Id="rId6" Type="http://schemas.openxmlformats.org/officeDocument/2006/relationships/customXml" Target="../ink/ink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8.xml"/><Relationship Id="rId7" Type="http://schemas.openxmlformats.org/officeDocument/2006/relationships/image" Target="../media/image14.png"/><Relationship Id="rId6" Type="http://schemas.openxmlformats.org/officeDocument/2006/relationships/customXml" Target="../ink/ink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10.xml"/><Relationship Id="rId7" Type="http://schemas.openxmlformats.org/officeDocument/2006/relationships/image" Target="../media/image14.png"/><Relationship Id="rId6" Type="http://schemas.openxmlformats.org/officeDocument/2006/relationships/customXml" Target="../ink/ink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12.xml"/><Relationship Id="rId7" Type="http://schemas.openxmlformats.org/officeDocument/2006/relationships/image" Target="../media/image14.png"/><Relationship Id="rId6" Type="http://schemas.openxmlformats.org/officeDocument/2006/relationships/customXml" Target="../ink/ink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14.xml"/><Relationship Id="rId7" Type="http://schemas.openxmlformats.org/officeDocument/2006/relationships/image" Target="../media/image14.png"/><Relationship Id="rId6" Type="http://schemas.openxmlformats.org/officeDocument/2006/relationships/customXml" Target="../ink/ink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16.xml"/><Relationship Id="rId7" Type="http://schemas.openxmlformats.org/officeDocument/2006/relationships/image" Target="../media/image14.png"/><Relationship Id="rId6" Type="http://schemas.openxmlformats.org/officeDocument/2006/relationships/customXml" Target="../ink/ink1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18.xml"/><Relationship Id="rId7" Type="http://schemas.openxmlformats.org/officeDocument/2006/relationships/image" Target="../media/image14.png"/><Relationship Id="rId6" Type="http://schemas.openxmlformats.org/officeDocument/2006/relationships/customXml" Target="../ink/ink1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20.xml"/><Relationship Id="rId7" Type="http://schemas.openxmlformats.org/officeDocument/2006/relationships/image" Target="../media/image14.png"/><Relationship Id="rId6" Type="http://schemas.openxmlformats.org/officeDocument/2006/relationships/customXml" Target="../ink/ink1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22.xml"/><Relationship Id="rId7" Type="http://schemas.openxmlformats.org/officeDocument/2006/relationships/image" Target="../media/image14.png"/><Relationship Id="rId6" Type="http://schemas.openxmlformats.org/officeDocument/2006/relationships/customXml" Target="../ink/ink2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/>
          <p:cNvPicPr>
            <a:picLocks noChangeAspect="1"/>
          </p:cNvPicPr>
          <p:nvPr/>
        </p:nvPicPr>
        <p:blipFill rotWithShape="1">
          <a:blip r:embed="rId1"/>
          <a:srcRect l="28" t="125" r="5881" b="35700"/>
          <a:stretch>
            <a:fillRect/>
          </a:stretch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/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>
            <a:fillRect/>
          </a:stretch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Rectangle"/>
          <p:cNvSpPr/>
          <p:nvPr/>
        </p:nvSpPr>
        <p:spPr>
          <a:xfrm rot="21420000">
            <a:off x="6615715" y="4564347"/>
            <a:ext cx="2705697" cy="61297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76" name="A new generation…"/>
          <p:cNvSpPr txBox="1"/>
          <p:nvPr/>
        </p:nvSpPr>
        <p:spPr>
          <a:xfrm>
            <a:off x="5586902" y="3372195"/>
            <a:ext cx="4763321" cy="1800493"/>
          </a:xfrm>
          <a:prstGeom prst="rect">
            <a:avLst/>
          </a:prstGeom>
          <a:ln w="12700">
            <a:miter lim="400000"/>
          </a:ln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b="1" dirty="0">
                <a:latin typeface="Microsoft YaHei" panose="020B0503020204020204" charset="-122"/>
              </a:rPr>
              <a:t>Uma nova </a:t>
            </a:r>
            <a:r>
              <a:rPr lang="en-US" b="1" dirty="0" err="1">
                <a:latin typeface="Microsoft YaHei" panose="020B0503020204020204" charset="-122"/>
              </a:rPr>
              <a:t>geração</a:t>
            </a:r>
            <a:r>
              <a:rPr lang="en-US" b="1" dirty="0">
                <a:latin typeface="Microsoft YaHei" panose="020B0503020204020204" charset="-122"/>
              </a:rPr>
              <a:t> </a:t>
            </a:r>
            <a:endParaRPr lang="en-US" b="1" dirty="0">
              <a:latin typeface="Microsoft YaHei" panose="020B0503020204020204" charset="-122"/>
            </a:endParaRP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b="1" dirty="0">
                <a:latin typeface="Microsoft YaHei" panose="020B0503020204020204" charset="-122"/>
              </a:rPr>
              <a:t>de </a:t>
            </a:r>
            <a:r>
              <a:rPr lang="en-US" b="1" dirty="0" err="1">
                <a:latin typeface="Microsoft YaHei" panose="020B0503020204020204" charset="-122"/>
              </a:rPr>
              <a:t>especialistas </a:t>
            </a:r>
            <a:r>
              <a:rPr lang="en-US" b="1" dirty="0">
                <a:latin typeface="Microsoft YaHei" panose="020B0503020204020204" charset="-122"/>
              </a:rPr>
              <a:t>em </a:t>
            </a:r>
            <a:r>
              <a:rPr lang="en-US" b="1" dirty="0" err="1">
                <a:latin typeface="Microsoft YaHei" panose="020B0503020204020204" charset="-122"/>
              </a:rPr>
              <a:t>tecnologia</a:t>
            </a:r>
            <a:endParaRPr b="1" dirty="0">
              <a:latin typeface="Microsoft YaHei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/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4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5"/>
          <a:srcRect l="1000" r="13538" b="33964"/>
          <a:stretch>
            <a:fillRect/>
          </a:stretch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6" name="A new generation…"/>
          <p:cNvSpPr txBox="1"/>
          <p:nvPr/>
        </p:nvSpPr>
        <p:spPr>
          <a:xfrm>
            <a:off x="6975507" y="2508408"/>
            <a:ext cx="4948555" cy="2368550"/>
          </a:xfrm>
          <a:prstGeom prst="rect">
            <a:avLst/>
          </a:prstGeom>
          <a:ln w="12700">
            <a:miter lim="400000"/>
          </a:ln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altLang="en-US" b="1" dirty="0">
                <a:solidFill>
                  <a:schemeClr val="bg1"/>
                </a:solidFill>
                <a:latin typeface="Microsoft YaHei" panose="020B0503020204020204" charset="-122"/>
              </a:rPr>
              <a:t>Safiri — Plataforma </a:t>
            </a:r>
            <a:endParaRPr lang="en-US" altLang="en-US" b="1" dirty="0">
              <a:solidFill>
                <a:schemeClr val="bg1"/>
              </a:solidFill>
              <a:latin typeface="Microsoft YaHei" panose="020B0503020204020204" charset="-122"/>
            </a:endParaRP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altLang="en-US" b="1" dirty="0">
                <a:solidFill>
                  <a:schemeClr val="bg1"/>
                </a:solidFill>
                <a:latin typeface="Microsoft YaHei" panose="020B0503020204020204" charset="-122"/>
              </a:rPr>
              <a:t>Digital de Turismo </a:t>
            </a:r>
            <a:endParaRPr lang="en-US" altLang="en-US" b="1" dirty="0">
              <a:solidFill>
                <a:schemeClr val="bg1"/>
              </a:solidFill>
              <a:latin typeface="Microsoft YaHei" panose="020B0503020204020204" charset="-122"/>
            </a:endParaRP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altLang="en-US" b="1" dirty="0">
                <a:solidFill>
                  <a:schemeClr val="bg1"/>
                </a:solidFill>
                <a:latin typeface="Microsoft YaHei" panose="020B0503020204020204" charset="-122"/>
              </a:rPr>
              <a:t>Sustentável e </a:t>
            </a:r>
            <a:endParaRPr lang="en-US" altLang="en-US" b="1" dirty="0">
              <a:solidFill>
                <a:schemeClr val="bg1"/>
              </a:solidFill>
              <a:latin typeface="Microsoft YaHei" panose="020B0503020204020204" charset="-122"/>
            </a:endParaRP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altLang="en-US" b="1" dirty="0">
                <a:solidFill>
                  <a:schemeClr val="bg1"/>
                </a:solidFill>
                <a:latin typeface="Microsoft YaHei" panose="020B0503020204020204" charset="-122"/>
              </a:rPr>
              <a:t>Preserva</a:t>
            </a:r>
            <a:r>
              <a:rPr lang="" altLang="en-US" b="1" dirty="0">
                <a:solidFill>
                  <a:schemeClr val="bg1"/>
                </a:solidFill>
                <a:latin typeface="Microsoft YaHei" panose="020B0503020204020204" charset="-122"/>
              </a:rPr>
              <a:t>ç</a:t>
            </a:r>
            <a:r>
              <a:rPr lang="en-US" altLang="en-US" b="1" dirty="0">
                <a:solidFill>
                  <a:schemeClr val="bg1"/>
                </a:solidFill>
                <a:latin typeface="Microsoft YaHei" panose="020B0503020204020204" charset="-122"/>
              </a:rPr>
              <a:t>ão Cultural</a:t>
            </a:r>
            <a:endParaRPr lang="en-US" altLang="en-US" b="1" dirty="0">
              <a:solidFill>
                <a:schemeClr val="bg1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O turismo cultural e ecológico é essencial para o desenvolvimento sustentável em Angola.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A ausência de plataformas inteligentes dificulta a divulga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e preserva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do património e biodiversidade.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Safiri surge como uma plataforma que une IA e cultura, promovendo turismo sustentável, educa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ambiental e valoriza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da identidade angolana.</a:t>
            </a:r>
            <a:endParaRPr lang="en-US" alt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40854" y="1926543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80156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altLang="tr-TR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Introdu</a:t>
            </a:r>
            <a:r>
              <a:rPr lang="pt-PT" altLang="tr-TR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çao</a:t>
            </a:r>
            <a:endParaRPr lang="pt-PT" altLang="tr-TR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Falta de plataformas digitais inteligentes voltadas ao turismo angolano.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Património e biodiversidade pouco documentados digitalmente.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Crescimento de conteúdos falsos ou irrelevantes (spam).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O projeto visa classificar conteúdos culturais, recomendar destinos e detetar spam, apoiando a preserva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ambiental e cultural.</a:t>
            </a:r>
            <a:endParaRPr lang="en-US" alt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500" y="2252980"/>
            <a:ext cx="5398135" cy="61976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99274" y="208127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altLang="en-US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Problema e Justificativa</a:t>
            </a:r>
            <a:endParaRPr lang="en-US" altLang="en-US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715" y="2950845"/>
            <a:ext cx="7816215" cy="3173095"/>
          </a:xfrm>
          <a:prstGeom prst="rect">
            <a:avLst/>
          </a:prstGeom>
        </p:spPr>
        <p:txBody>
          <a:bodyPr lIns="45719" tIns="45720" rIns="45719" bIns="45720" anchor="ctr">
            <a:normAutofit fontScale="50000"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Objetivo Geral: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Promover o turismo sustentável e a valoriza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do património e biodiversidade através de uma plataforma colaborativa baseada em IA.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Objetivos Específicos: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Classificar publica</a:t>
            </a:r>
            <a:r>
              <a:rPr lang="" altLang="en-US" sz="1600" dirty="0">
                <a:latin typeface="Microsoft YaHei Light" panose="020B0502040204020203" charset="-122"/>
              </a:rPr>
              <a:t>çõ</a:t>
            </a:r>
            <a:r>
              <a:rPr lang="en-US" altLang="en-US" sz="1600" dirty="0">
                <a:latin typeface="Microsoft YaHei Light" panose="020B0502040204020203" charset="-122"/>
              </a:rPr>
              <a:t>es sobre turismo e património.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Recomendar destinos personalizados.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Detetar e eliminar spam.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Gerar roteiros culturais inteligentes com o Hugging Face API.</a:t>
            </a:r>
            <a:endParaRPr lang="en-US" alt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500" y="2327275"/>
            <a:ext cx="5398135" cy="545465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700544" y="232701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 err="1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Objetivos</a:t>
            </a:r>
            <a:r>
              <a:rPr lang="pt-PT" altLang="en-US" sz="3350" b="1" dirty="0" err="1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 do Projeto</a:t>
            </a:r>
            <a:endParaRPr lang="pt-PT" altLang="en-US" sz="3350" b="1" dirty="0" err="1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ODS 11.4: Proteger o património cultural e natural.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ODS 15: Proteger, restaurar e promover o uso sustentável dos ecossistemas terrestres.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ODS 9: Inova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e infraestrutura digital inclusiva.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 Safiri contribui diretamente para os ODS 11 e 15 ao unir IA, cultura e preserva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ambiental.</a:t>
            </a:r>
            <a:endParaRPr lang="en-US" alt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98305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Relação com ODS</a:t>
            </a:r>
            <a:endParaRPr lang="tr-TR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/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4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5"/>
          <a:srcRect l="1000" r="13538" b="33964"/>
          <a:stretch>
            <a:fillRect/>
          </a:stretch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b="1" dirty="0">
                <a:solidFill>
                  <a:schemeClr val="bg1"/>
                </a:solidFill>
                <a:latin typeface="Microsoft YaHei" panose="020B0503020204020204" charset="-122"/>
              </a:rPr>
              <a:t>Dados</a:t>
            </a:r>
            <a:endParaRPr b="1" dirty="0">
              <a:solidFill>
                <a:schemeClr val="bg1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lnSpcReduction="20000"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Dataset simulado com 50 publica</a:t>
            </a:r>
            <a:r>
              <a:rPr lang="" altLang="en-US" sz="1600" dirty="0">
                <a:latin typeface="Microsoft YaHei Light" panose="020B0502040204020203" charset="-122"/>
              </a:rPr>
              <a:t>çõ</a:t>
            </a:r>
            <a:r>
              <a:rPr lang="en-US" altLang="en-US" sz="1600" dirty="0">
                <a:latin typeface="Microsoft YaHei Light" panose="020B0502040204020203" charset="-122"/>
              </a:rPr>
              <a:t>es culturais.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Campos: id, texto, localidade, likes, comentários, spam, categoria.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Pré-processamento NLP: limpeza, tokeniza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ão, TF-IDF.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Métricas usadas: F1-score, Precisão, Revoca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ão, AUC.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Dados baseados em locais como Mbanza Kongo, Palanca Negra e Fortaleza de São Miguel.</a:t>
            </a:r>
            <a:endParaRPr lang="en-US" alt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Dados</a:t>
            </a:r>
            <a:endParaRPr lang="en-US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/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4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5"/>
          <a:srcRect l="1000" r="13538" b="33964"/>
          <a:stretch>
            <a:fillRect/>
          </a:stretch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b="1" dirty="0">
                <a:solidFill>
                  <a:schemeClr val="bg1"/>
                </a:solidFill>
                <a:latin typeface="Microsoft YaHei" panose="020B0503020204020204" charset="-122"/>
              </a:rPr>
              <a:t>Modelo</a:t>
            </a:r>
            <a:endParaRPr b="1" dirty="0">
              <a:solidFill>
                <a:schemeClr val="bg1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"/>
          <p:cNvSpPr/>
          <p:nvPr/>
        </p:nvSpPr>
        <p:spPr>
          <a:xfrm>
            <a:off x="698305" y="2034273"/>
            <a:ext cx="6659425" cy="83856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04801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Seleção e Treinamento / </a:t>
            </a:r>
            <a:r>
              <a:rPr lang="en-US" sz="3350" b="1" dirty="0" err="1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Teste de Modelos</a:t>
            </a:r>
            <a:endParaRPr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  <p:graphicFrame>
        <p:nvGraphicFramePr>
          <p:cNvPr id="9" name="Table 8"/>
          <p:cNvGraphicFramePr/>
          <p:nvPr/>
        </p:nvGraphicFramePr>
        <p:xfrm>
          <a:off x="668020" y="2936240"/>
          <a:ext cx="8533765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Tarefa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Modelo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Descrição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Classificação de Posts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Logistic Regression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Identifica tipo de conteúdo cultural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Deteção de Spam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Naive Bayes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Remove publicações irrelevantes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Recomendação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Similaridade Coseno</a:t>
                      </a:r>
                      <a:r>
                        <a:rPr lang="en-US" altLang="en-US" sz="1600"/>
                        <a:t>/</a:t>
                      </a:r>
                      <a:r>
                        <a:rPr lang="pt-PT" altLang="en-US" sz="1600"/>
                        <a:t>TF</a:t>
                      </a:r>
                      <a:r>
                        <a:rPr lang="en-US" altLang="en-US" sz="1600"/>
                        <a:t>-</a:t>
                      </a:r>
                      <a:r>
                        <a:rPr lang="pt-PT" altLang="en-US" sz="1600"/>
                        <a:t>IDF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600"/>
                        <a:t>Sugere destinos e patrimónios similares</a:t>
                      </a:r>
                      <a:endParaRPr lang="pt-PT" altLang="en-US" sz="1600"/>
                    </a:p>
                  </a:txBody>
                  <a:tcPr anchor="b" anchorCtr="0">
                    <a:solidFill>
                      <a:srgbClr val="4617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/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4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5"/>
          <a:srcRect l="1000" r="13538" b="33964"/>
          <a:stretch>
            <a:fillRect/>
          </a:stretch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b="1" dirty="0" err="1">
                <a:solidFill>
                  <a:schemeClr val="bg1"/>
                </a:solidFill>
                <a:latin typeface="Microsoft YaHei" panose="020B0503020204020204" charset="-122"/>
              </a:rPr>
              <a:t>Resultado</a:t>
            </a:r>
            <a:endParaRPr b="1" dirty="0">
              <a:solidFill>
                <a:schemeClr val="bg1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98305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 err="1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Resultados </a:t>
            </a:r>
            <a:endParaRPr lang="tr-TR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  <p:graphicFrame>
        <p:nvGraphicFramePr>
          <p:cNvPr id="3" name="Table 2"/>
          <p:cNvGraphicFramePr/>
          <p:nvPr/>
        </p:nvGraphicFramePr>
        <p:xfrm>
          <a:off x="669290" y="2997835"/>
          <a:ext cx="8531225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6246"/>
                <a:gridCol w="1706246"/>
                <a:gridCol w="1706246"/>
                <a:gridCol w="1706246"/>
                <a:gridCol w="1706246"/>
              </a:tblGrid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Modelo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F1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Precisão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Revocação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AUC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Logistic Regression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0.88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0.90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0.86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0.91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Naive Bates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0.82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0.83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0.80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pt-PT" altLang="en-US" sz="1400"/>
                        <a:t>0.87</a:t>
                      </a:r>
                      <a:endParaRPr lang="pt-PT" altLang="en-US" sz="1400"/>
                    </a:p>
                  </a:txBody>
                  <a:tcPr>
                    <a:solidFill>
                      <a:srgbClr val="4617DE"/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98500" y="4643755"/>
            <a:ext cx="5364480" cy="20288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Visualiza</a:t>
            </a:r>
            <a:r>
              <a:rPr kumimoji="0" lang="" altLang="en-US" sz="1800" b="0" i="0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çõ</a:t>
            </a:r>
            <a:r>
              <a:rPr kumimoji="0" lang="en-US" altLang="en-US" sz="1800" b="0" i="0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es:</a:t>
            </a:r>
            <a:endParaRPr kumimoji="0" lang="en-US" altLang="en-US" sz="18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Matriz de confusão</a:t>
            </a:r>
            <a:endParaRPr kumimoji="0" lang="en-US" altLang="en-US" sz="18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Gráficos de barras comparativos</a:t>
            </a:r>
            <a:endParaRPr kumimoji="0" lang="en-US" altLang="en-US" sz="18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Evolu</a:t>
            </a:r>
            <a:r>
              <a:rPr kumimoji="0" lang="" altLang="en-US" sz="1800" b="0" i="0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ç</a:t>
            </a:r>
            <a:r>
              <a:rPr kumimoji="0" lang="en-US" altLang="en-US" sz="1800" b="0" i="0" u="none" strike="noStrike" cap="none" spc="0" normalizeH="0" baseline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ão do desempenho nos testes</a:t>
            </a:r>
            <a:endParaRPr kumimoji="0" lang="en-US" altLang="en-US" sz="18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/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4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5"/>
          <a:srcRect l="1000" r="13538" b="33964"/>
          <a:stretch>
            <a:fillRect/>
          </a:stretch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0400"/>
          </a:xfrm>
          <a:prstGeom prst="rect">
            <a:avLst/>
          </a:prstGeom>
          <a:ln w="12700">
            <a:miter lim="400000"/>
          </a:ln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PT" b="1" dirty="0">
                <a:solidFill>
                  <a:schemeClr val="bg1"/>
                </a:solidFill>
                <a:latin typeface="Microsoft YaHei" panose="020B0503020204020204" charset="-122"/>
              </a:rPr>
              <a:t>Arquitetura</a:t>
            </a:r>
            <a:endParaRPr lang="pt-PT" b="1" dirty="0">
              <a:solidFill>
                <a:schemeClr val="bg1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fontScale="60000"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Camadas Principais: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Frontend (React) — Interface colaborativa e responsiva.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Backend (Django + Flask) — API de dados e integra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do ML.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Módulo de IA (Python + Scikit-learn + Hugging Face) — Classifica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ão, recomenda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e roteiriza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inteligente.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Base de Dados (PostgreSQL) — Armazenamento de utilizadores, destinos e publica</a:t>
            </a:r>
            <a:r>
              <a:rPr lang="" altLang="en-US" sz="1600" dirty="0">
                <a:latin typeface="Microsoft YaHei Light" panose="020B0502040204020203" charset="-122"/>
              </a:rPr>
              <a:t>çõ</a:t>
            </a:r>
            <a:r>
              <a:rPr lang="en-US" altLang="en-US" sz="1600" dirty="0">
                <a:latin typeface="Microsoft YaHei Light" panose="020B0502040204020203" charset="-122"/>
              </a:rPr>
              <a:t>es.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zh-CN" altLang="en-US" sz="1600" dirty="0">
                <a:latin typeface="Microsoft YaHei Light" panose="020B0502040204020203" charset="-122"/>
              </a:rPr>
              <a:t>💡</a:t>
            </a:r>
            <a:r>
              <a:rPr lang="en-US" altLang="en-US" sz="1600" dirty="0">
                <a:latin typeface="Microsoft YaHei Light" panose="020B0502040204020203" charset="-122"/>
              </a:rPr>
              <a:t> Fluxo: Utilizador → Frontend → Backend → Modelo de IA → Resultado.</a:t>
            </a:r>
            <a:endParaRPr lang="en-US" alt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500" y="2252980"/>
            <a:ext cx="5953760" cy="61976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715" y="2060575"/>
            <a:ext cx="7755890" cy="812165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-PT" altLang="en-US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Arquitetura da Plataforma</a:t>
            </a:r>
            <a:endParaRPr lang="pt-PT" altLang="en-US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Safiri demonstra como a IA pode servir o turismo e a preserva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cultural.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A integra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de ML e NLP possibilita recomenda</a:t>
            </a:r>
            <a:r>
              <a:rPr lang="" altLang="en-US" sz="1600" dirty="0">
                <a:latin typeface="Microsoft YaHei Light" panose="020B0502040204020203" charset="-122"/>
              </a:rPr>
              <a:t>çõ</a:t>
            </a:r>
            <a:r>
              <a:rPr lang="en-US" altLang="en-US" sz="1600" dirty="0">
                <a:latin typeface="Microsoft YaHei Light" panose="020B0502040204020203" charset="-122"/>
              </a:rPr>
              <a:t>es inteligentes e dete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de spam.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O roteirizador (Hugging Face) expande o acesso a conteúdos culturais e ecológicos.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O projeto refor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a o papel da tecnologia na constru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de uma </a:t>
            </a:r>
            <a:r>
              <a:rPr lang="" altLang="en-US" sz="1600" dirty="0">
                <a:latin typeface="Microsoft YaHei Light" panose="020B0502040204020203" charset="-122"/>
              </a:rPr>
              <a:t>Á</a:t>
            </a:r>
            <a:r>
              <a:rPr lang="en-US" altLang="en-US" sz="1600" dirty="0">
                <a:latin typeface="Microsoft YaHei Light" panose="020B0502040204020203" charset="-122"/>
              </a:rPr>
              <a:t>frica digital e sustentável.</a:t>
            </a:r>
            <a:endParaRPr lang="en-US" alt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500" y="2128520"/>
            <a:ext cx="3486150" cy="74422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715" y="2128520"/>
            <a:ext cx="2821940" cy="869315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 err="1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Conclusão</a:t>
            </a:r>
            <a:endParaRPr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Expansão do dataset com dados reais de ministérios e ONGs culturais.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Uso de modelos BERT ou transformers multilingues.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Aplicativo móvel (versão Android/iOS).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Dashboard de métricas de impacto turístico e ecológico.</a:t>
            </a:r>
            <a:endParaRPr lang="en-US" alt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500" y="2128520"/>
            <a:ext cx="4145280" cy="74422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715" y="2128520"/>
            <a:ext cx="4429125" cy="869315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 err="1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Trabalho futuro</a:t>
            </a:r>
            <a:endParaRPr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lnSpcReduction="20000"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Ade-Ibijola, A. (2020). Artificial Intelligence for Social Good in Africa. African Journal of Information Systems.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Kunda, D., &amp; Ngoma, M. (2021). Cultural Context in African AI Systems. University of Zambia Press.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Silva, F., &amp; Tchissola, M. (2023). Preserva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 Digital do Património Cultural Angolano através da IA. Revista Angolana de Computa</a:t>
            </a:r>
            <a:r>
              <a:rPr lang="" altLang="en-US" sz="1600" dirty="0">
                <a:latin typeface="Microsoft YaHei Light" panose="020B0502040204020203" charset="-122"/>
              </a:rPr>
              <a:t>ç</a:t>
            </a:r>
            <a:r>
              <a:rPr lang="en-US" altLang="en-US" sz="1600" dirty="0">
                <a:latin typeface="Microsoft YaHei Light" panose="020B0502040204020203" charset="-122"/>
              </a:rPr>
              <a:t>ão.</a:t>
            </a: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altLang="en-US" sz="1600" dirty="0">
              <a:latin typeface="Microsoft YaHei Light" panose="020B0502040204020203" charset="-122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altLang="en-US" sz="1600" dirty="0">
                <a:latin typeface="Microsoft YaHei Light" panose="020B0502040204020203" charset="-122"/>
              </a:rPr>
              <a:t>Russell, S., &amp; Norvig, P. (2022). Artificial Intelligence: A Modern Approach. Pearson Education.</a:t>
            </a:r>
            <a:endParaRPr lang="en-US" alt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500" y="2128520"/>
            <a:ext cx="4145280" cy="74422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715" y="2128520"/>
            <a:ext cx="4429125" cy="869315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-PT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Referências</a:t>
            </a:r>
            <a:endParaRPr lang="pt-PT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pic>
        <p:nvPicPr>
          <p:cNvPr id="659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4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704" y="2355271"/>
            <a:ext cx="2919045" cy="283709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64" name="Thank you!"/>
          <p:cNvSpPr txBox="1">
            <a:spLocks noGrp="1"/>
          </p:cNvSpPr>
          <p:nvPr>
            <p:ph type="ctrTitle" idx="4294967295"/>
          </p:nvPr>
        </p:nvSpPr>
        <p:spPr>
          <a:xfrm>
            <a:off x="3476848" y="3264195"/>
            <a:ext cx="5279148" cy="239616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>
              <a:lnSpc>
                <a:spcPct val="60000"/>
              </a:lnSpc>
              <a:defRPr sz="8000">
                <a:solidFill>
                  <a:srgbClr val="FFFFFF"/>
                </a:solidFill>
                <a:latin typeface="Merriweather Sans Regular ExtraBold"/>
                <a:ea typeface="Merriweather Sans Regular ExtraBold"/>
                <a:cs typeface="Merriweather Sans Regular ExtraBold"/>
                <a:sym typeface="Merriweather Sans Regular ExtraBold"/>
              </a:defRPr>
            </a:lvl1pPr>
          </a:lstStyle>
          <a:p>
            <a:pPr>
              <a:lnSpc>
                <a:spcPct val="100000"/>
              </a:lnSpc>
            </a:pPr>
            <a:r>
              <a:rPr sz="7200" b="1" dirty="0" err="1">
                <a:latin typeface="Microsoft YaHei" panose="020B0503020204020204" charset="-122"/>
              </a:rPr>
              <a:t>Obrigado</a:t>
            </a:r>
            <a:r>
              <a:rPr sz="7200" b="1" dirty="0">
                <a:latin typeface="Microsoft YaHei" panose="020B0503020204020204" charset="-122"/>
              </a:rPr>
              <a:t>!</a:t>
            </a:r>
            <a:endParaRPr lang="en-US" sz="7200" b="1" dirty="0">
              <a:latin typeface="Microsoft YaHei" panose="020B0503020204020204" charset="-122"/>
            </a:endParaRPr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03668" y="647699"/>
            <a:ext cx="5015131" cy="70240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  <Time xmlns="6259e846-8b77-4076-b7b3-191dee4270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7" ma:contentTypeDescription="Create a new document." ma:contentTypeScope="" ma:versionID="c98d0228abce7754384ebe83b64f5abe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6e2117bc6268b3a71bdab3243b1b5906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Tim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Time" ma:index="23" nillable="true" ma:displayName="Time" ma:format="DateOnly" ma:indexed="true" ma:internalName="Tim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FFB1A3-86F8-4D83-B399-9B6D5E293CEC}">
  <ds:schemaRefs/>
</ds:datastoreItem>
</file>

<file path=customXml/itemProps2.xml><?xml version="1.0" encoding="utf-8"?>
<ds:datastoreItem xmlns:ds="http://schemas.openxmlformats.org/officeDocument/2006/customXml" ds:itemID="{A22449C5-8A7C-4DDF-8BBD-9834F5F8D2B3}">
  <ds:schemaRefs/>
</ds:datastoreItem>
</file>

<file path=customXml/itemProps3.xml><?xml version="1.0" encoding="utf-8"?>
<ds:datastoreItem xmlns:ds="http://schemas.openxmlformats.org/officeDocument/2006/customXml" ds:itemID="{EE9C168A-BF07-44C9-8193-C4E90CE7716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3711</Words>
  <Application>WPS Presentation</Application>
  <PresentationFormat>Widescreen</PresentationFormat>
  <Paragraphs>183</Paragraphs>
  <Slides>18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Calibri Light</vt:lpstr>
      <vt:lpstr>Arial</vt:lpstr>
      <vt:lpstr>Helvetica Neue Thin</vt:lpstr>
      <vt:lpstr>Segoe Print</vt:lpstr>
      <vt:lpstr>Myriad Pro Semibold</vt:lpstr>
      <vt:lpstr>Microsoft YaHei</vt:lpstr>
      <vt:lpstr>Calibri</vt:lpstr>
      <vt:lpstr>Merriweather Sans Light</vt:lpstr>
      <vt:lpstr>Microsoft YaHei Light</vt:lpstr>
      <vt:lpstr>Merriweather Sans Regular</vt:lpstr>
      <vt:lpstr>Merriweather Sans Regular ExtraBold</vt:lpstr>
      <vt:lpstr>Arial Unicode MS</vt:lpstr>
      <vt:lpstr>Helvetica</vt:lpstr>
      <vt:lpstr>frontiertech</vt:lpstr>
      <vt:lpstr>PowerPoint 演示文稿</vt:lpstr>
      <vt:lpstr>PowerPoint 演示文稿</vt:lpstr>
      <vt:lpstr>geral</vt:lpstr>
      <vt:lpstr>Background</vt:lpstr>
      <vt:lpstr>Objetivos</vt:lpstr>
      <vt:lpstr>Relação com ODS</vt:lpstr>
      <vt:lpstr>PowerPoint 演示文稿</vt:lpstr>
      <vt:lpstr>Dados</vt:lpstr>
      <vt:lpstr>PowerPoint 演示文稿</vt:lpstr>
      <vt:lpstr>Seleção e Treinamento / Teste de Modelos</vt:lpstr>
      <vt:lpstr>PowerPoint 演示文稿</vt:lpstr>
      <vt:lpstr>Resultados </vt:lpstr>
      <vt:lpstr>PowerPoint 演示文稿</vt:lpstr>
      <vt:lpstr>Implantação</vt:lpstr>
      <vt:lpstr>Conclusão e Trabalho futuro</vt:lpstr>
      <vt:lpstr>Conclusão e Trabalho futuro</vt:lpstr>
      <vt:lpstr>Trabalho futuro</vt:lpstr>
      <vt:lpstr>Obrigado!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luisa</cp:lastModifiedBy>
  <cp:revision>21</cp:revision>
  <dcterms:created xsi:type="dcterms:W3CDTF">2025-11-07T19:49:15Z</dcterms:created>
  <dcterms:modified xsi:type="dcterms:W3CDTF">2025-11-07T20:19:18Z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  <property fmtid="{D5CDD505-2E9C-101B-9397-08002B2CF9AE}" pid="4" name="ICV">
    <vt:lpwstr>F0237D60CFAE4AD2B1A3772CFA581480_12</vt:lpwstr>
  </property>
  <property fmtid="{D5CDD505-2E9C-101B-9397-08002B2CF9AE}" pid="5" name="KSOProductBuildVer">
    <vt:lpwstr>1033-12.2.0.23131</vt:lpwstr>
  </property>
</Properties>
</file>